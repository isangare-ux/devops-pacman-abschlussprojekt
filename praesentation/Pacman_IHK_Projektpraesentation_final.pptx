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57" r:id="rId4"/>
    <p:sldId id="281" r:id="rId5"/>
    <p:sldId id="286" r:id="rId6"/>
    <p:sldId id="285" r:id="rId7"/>
    <p:sldId id="292" r:id="rId8"/>
    <p:sldId id="288" r:id="rId9"/>
    <p:sldId id="259" r:id="rId10"/>
    <p:sldId id="276" r:id="rId11"/>
    <p:sldId id="293" r:id="rId12"/>
    <p:sldId id="289" r:id="rId13"/>
    <p:sldId id="280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89989" autoAdjust="0"/>
  </p:normalViewPr>
  <p:slideViewPr>
    <p:cSldViewPr snapToGrid="0" snapToObjects="1">
      <p:cViewPr varScale="1">
        <p:scale>
          <a:sx n="86" d="100"/>
          <a:sy n="86" d="100"/>
        </p:scale>
        <p:origin x="51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13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 kurz halten. In einem Satz: Ziel war, eine bestehende Pacman-Anwendung containerisiert, automatisiert, über GitOps nach Kubernetes bereitzustellen und betreibbar zu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Agenda kurz vorstellen, nicht jeden Punkt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652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Lesetext:</a:t>
            </a:r>
          </a:p>
          <a:p>
            <a:r>
              <a:rPr lang="de-DE" dirty="0"/>
              <a:t>Diese Grafik zeigt den vollständigen DevOps- und </a:t>
            </a:r>
            <a:r>
              <a:rPr lang="de-DE" dirty="0" err="1"/>
              <a:t>GitOps</a:t>
            </a:r>
            <a:r>
              <a:rPr lang="de-DE" dirty="0"/>
              <a:t>-Prozess meines Pacman-Projekts. Der Quellcode wird in </a:t>
            </a:r>
            <a:r>
              <a:rPr lang="de-DE" dirty="0" err="1"/>
              <a:t>Git</a:t>
            </a:r>
            <a:r>
              <a:rPr lang="de-DE" dirty="0"/>
              <a:t> versioniert und durch die CI-Pipeline geprüft. Der Release-Workflow baut und veröffentlicht das Container-Image in GHCR. Anschließend wird der Image-Stand im </a:t>
            </a:r>
            <a:r>
              <a:rPr lang="de-DE" dirty="0" err="1"/>
              <a:t>GitOps</a:t>
            </a:r>
            <a:r>
              <a:rPr lang="de-DE" dirty="0"/>
              <a:t>-Repository aktualisiert. Die dort gespeicherten </a:t>
            </a:r>
            <a:r>
              <a:rPr lang="de-DE" dirty="0" err="1"/>
              <a:t>Kubernetes</a:t>
            </a:r>
            <a:r>
              <a:rPr lang="de-DE" dirty="0"/>
              <a:t>-Manifeste definieren den Sollzustand. Argo CD vergleicht diesen Sollzustand mit dem Istzustand im </a:t>
            </a:r>
            <a:r>
              <a:rPr lang="de-DE" dirty="0" err="1"/>
              <a:t>Kubernetes</a:t>
            </a:r>
            <a:r>
              <a:rPr lang="de-DE" dirty="0"/>
              <a:t>-Cluster und synchronisiert Änderungen. </a:t>
            </a:r>
            <a:r>
              <a:rPr lang="de-DE" dirty="0" err="1"/>
              <a:t>Kubernetes</a:t>
            </a:r>
            <a:r>
              <a:rPr lang="de-DE" dirty="0"/>
              <a:t> setzt den gewünschten Zustand um und betreibt die Anwendung sowie MongoDB. Prometheus und </a:t>
            </a:r>
            <a:r>
              <a:rPr lang="de-DE" dirty="0" err="1"/>
              <a:t>Grafana</a:t>
            </a:r>
            <a:r>
              <a:rPr lang="de-DE" dirty="0"/>
              <a:t> übernehmen Monitoring und Visualisierung; der Nutzer greift über den Browser auf Pacman zu.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637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Lesetext</a:t>
            </a:r>
            <a:r>
              <a:rPr dirty="0"/>
              <a:t>:</a:t>
            </a:r>
          </a:p>
          <a:p>
            <a:r>
              <a:rPr dirty="0"/>
              <a:t>In </a:t>
            </a:r>
            <a:r>
              <a:rPr dirty="0" err="1"/>
              <a:t>meiner</a:t>
            </a:r>
            <a:r>
              <a:rPr dirty="0"/>
              <a:t> CI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zunächst</a:t>
            </a:r>
            <a:r>
              <a:rPr dirty="0"/>
              <a:t> der </a:t>
            </a:r>
            <a:r>
              <a:rPr dirty="0" err="1"/>
              <a:t>Quellcode</a:t>
            </a:r>
            <a:r>
              <a:rPr dirty="0"/>
              <a:t> </a:t>
            </a:r>
            <a:r>
              <a:rPr dirty="0" err="1"/>
              <a:t>ausgecheckt</a:t>
            </a:r>
            <a:r>
              <a:rPr dirty="0"/>
              <a:t> und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npm</a:t>
            </a:r>
            <a:r>
              <a:rPr dirty="0"/>
              <a:t> ci </a:t>
            </a:r>
            <a:r>
              <a:rPr dirty="0" err="1"/>
              <a:t>reproduzierbar</a:t>
            </a:r>
            <a:r>
              <a:rPr dirty="0"/>
              <a:t> </a:t>
            </a:r>
            <a:r>
              <a:rPr dirty="0" err="1"/>
              <a:t>installiert</a:t>
            </a:r>
            <a:r>
              <a:rPr dirty="0"/>
              <a:t>. </a:t>
            </a:r>
            <a:r>
              <a:rPr dirty="0" err="1"/>
              <a:t>Danach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das Docker-Image </a:t>
            </a:r>
            <a:r>
              <a:rPr dirty="0" err="1"/>
              <a:t>lokal</a:t>
            </a:r>
            <a:r>
              <a:rPr dirty="0"/>
              <a:t> </a:t>
            </a:r>
            <a:r>
              <a:rPr dirty="0" err="1"/>
              <a:t>gebaut</a:t>
            </a:r>
            <a:r>
              <a:rPr dirty="0"/>
              <a:t> und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HTTP-Smoke-Test </a:t>
            </a:r>
            <a:r>
              <a:rPr dirty="0" err="1"/>
              <a:t>geprüft</a:t>
            </a:r>
            <a:r>
              <a:rPr dirty="0"/>
              <a:t>. Die CI </a:t>
            </a:r>
            <a:r>
              <a:rPr dirty="0" err="1"/>
              <a:t>veröffentlicht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Image.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Veröffentlichung</a:t>
            </a:r>
            <a:r>
              <a:rPr dirty="0"/>
              <a:t> </a:t>
            </a:r>
            <a:r>
              <a:rPr dirty="0" err="1"/>
              <a:t>übernimmt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 der Release-Workflow. Er </a:t>
            </a:r>
            <a:r>
              <a:rPr dirty="0" err="1"/>
              <a:t>pusht</a:t>
            </a:r>
            <a:r>
              <a:rPr dirty="0"/>
              <a:t> das Image </a:t>
            </a:r>
            <a:r>
              <a:rPr dirty="0" err="1"/>
              <a:t>nach</a:t>
            </a:r>
            <a:r>
              <a:rPr dirty="0"/>
              <a:t> GHCR und </a:t>
            </a:r>
            <a:r>
              <a:rPr dirty="0" err="1"/>
              <a:t>dokumentiert</a:t>
            </a:r>
            <a:r>
              <a:rPr dirty="0"/>
              <a:t> Commit-SHA-Tag, Release-Tag und den </a:t>
            </a:r>
            <a:r>
              <a:rPr dirty="0" err="1"/>
              <a:t>eindeutigen</a:t>
            </a:r>
            <a:r>
              <a:rPr dirty="0"/>
              <a:t> Image-Digest. </a:t>
            </a:r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Trivy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Security-Gate </a:t>
            </a:r>
            <a:r>
              <a:rPr dirty="0" err="1"/>
              <a:t>eingesetzt</a:t>
            </a:r>
            <a:r>
              <a:rPr dirty="0"/>
              <a:t>. Für den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dokumentierten</a:t>
            </a:r>
            <a:r>
              <a:rPr dirty="0"/>
              <a:t> Release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SBOM </a:t>
            </a:r>
            <a:r>
              <a:rPr dirty="0" err="1"/>
              <a:t>erzeugt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zeige</a:t>
            </a:r>
            <a:r>
              <a:rPr dirty="0"/>
              <a:t> ich den </a:t>
            </a:r>
            <a:r>
              <a:rPr dirty="0" err="1"/>
              <a:t>konkreten</a:t>
            </a:r>
            <a:r>
              <a:rPr dirty="0"/>
              <a:t> Release-</a:t>
            </a:r>
            <a:r>
              <a:rPr dirty="0" err="1"/>
              <a:t>Nachweis</a:t>
            </a:r>
            <a:r>
              <a:rPr dirty="0"/>
              <a:t> </a:t>
            </a:r>
            <a:r>
              <a:rPr dirty="0" err="1"/>
              <a:t>sowie</a:t>
            </a:r>
            <a:r>
              <a:rPr dirty="0"/>
              <a:t> die </a:t>
            </a:r>
            <a:r>
              <a:rPr dirty="0" err="1"/>
              <a:t>aktuell</a:t>
            </a:r>
            <a:r>
              <a:rPr dirty="0"/>
              <a:t> </a:t>
            </a:r>
            <a:r>
              <a:rPr dirty="0" err="1"/>
              <a:t>laufenden</a:t>
            </a:r>
            <a:r>
              <a:rPr dirty="0"/>
              <a:t> Image-</a:t>
            </a:r>
            <a:r>
              <a:rPr dirty="0" err="1"/>
              <a:t>Stände</a:t>
            </a:r>
            <a:r>
              <a:rPr dirty="0"/>
              <a:t>. </a:t>
            </a:r>
            <a:r>
              <a:rPr dirty="0" err="1"/>
              <a:t>Dadurch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ich </a:t>
            </a:r>
            <a:r>
              <a:rPr dirty="0" err="1"/>
              <a:t>nachvollziehen</a:t>
            </a:r>
            <a:r>
              <a:rPr dirty="0"/>
              <a:t>, </a:t>
            </a:r>
            <a:r>
              <a:rPr dirty="0" err="1"/>
              <a:t>welcher</a:t>
            </a:r>
            <a:r>
              <a:rPr dirty="0"/>
              <a:t> </a:t>
            </a:r>
            <a:r>
              <a:rPr dirty="0" err="1"/>
              <a:t>Quellcode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welchem</a:t>
            </a:r>
            <a:r>
              <a:rPr dirty="0"/>
              <a:t> Container-Image und </a:t>
            </a:r>
            <a:r>
              <a:rPr dirty="0" err="1"/>
              <a:t>welchem</a:t>
            </a:r>
            <a:r>
              <a:rPr dirty="0"/>
              <a:t> </a:t>
            </a:r>
            <a:r>
              <a:rPr dirty="0" err="1"/>
              <a:t>laufenden</a:t>
            </a:r>
            <a:r>
              <a:rPr dirty="0"/>
              <a:t> Stand </a:t>
            </a:r>
            <a:r>
              <a:rPr dirty="0" err="1"/>
              <a:t>gehört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die wichtigste Architekturfolie. Immer wieder auf die Trennung Code-Repo / GitOps-Repo zurückkommen.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de-DE" b="1" dirty="0"/>
              <a:t>Sprechtext:</a:t>
            </a:r>
            <a:br>
              <a:rPr lang="de-DE" dirty="0"/>
            </a:br>
            <a:r>
              <a:rPr lang="de-DE" dirty="0"/>
              <a:t>Prometheus sammelt die Kubernetes-Metriken, zum Beispiel CPU, RAM, Restarts, Replikate, PVC und HPA. Eine Alert-Regel legt fest, ab wann aus einer Metrik eine Warnung entsteht, zum Beispiel wenn Replikate fehlen oder die Anzahl der Restarts steigt. Der </a:t>
            </a:r>
            <a:r>
              <a:rPr lang="de-DE" dirty="0" err="1"/>
              <a:t>Alertmanager</a:t>
            </a:r>
            <a:r>
              <a:rPr lang="de-DE" dirty="0"/>
              <a:t> verwaltet diese Warnungen, gruppiert sie und leitet sie weiter. </a:t>
            </a:r>
            <a:r>
              <a:rPr lang="de-DE" dirty="0" err="1"/>
              <a:t>Grafana</a:t>
            </a:r>
            <a:r>
              <a:rPr lang="de-DE" dirty="0"/>
              <a:t> visualisiert die Verläufe und Auffälligkeiten.</a:t>
            </a:r>
          </a:p>
          <a:p>
            <a:r>
              <a:rPr lang="de-DE" dirty="0"/>
              <a:t>Bei einem Alert reicht die Grafik allein nicht aus, um die Ursache festzustellen. Deshalb prüfe ich anschließend mit 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kubectl</a:t>
            </a:r>
            <a:r>
              <a:rPr lang="de-DE" dirty="0"/>
              <a:t> den Pod-Status, die Events und die Logs.</a:t>
            </a:r>
          </a:p>
          <a:p>
            <a:r>
              <a:rPr lang="de-DE" dirty="0"/>
              <a:t>Ein typischer Testfall ist: Einen Fehler kontrolliert erzeugen, den Alert prüfen, die Ursache nachweisen und nach der Behebung einen Nachtest durchführen.</a:t>
            </a:r>
          </a:p>
          <a:p>
            <a:endParaRPr lang="de-DE" dirty="0"/>
          </a:p>
          <a:p>
            <a:r>
              <a:rPr lang="de-DE" b="1" dirty="0"/>
              <a:t>404 Not Found</a:t>
            </a:r>
            <a:r>
              <a:rPr lang="de-DE" dirty="0"/>
              <a:t> → Server erreichbar, Ressource/Route (Pfad) nicht vorhanden</a:t>
            </a:r>
          </a:p>
          <a:p>
            <a:r>
              <a:rPr lang="de-DE" b="1" dirty="0"/>
              <a:t>502 Bad Gateway</a:t>
            </a:r>
            <a:r>
              <a:rPr lang="de-DE" dirty="0"/>
              <a:t> → Ingress/Proxy kann das Backend (Service, Pods) nicht korrekt erreichen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7639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Lesetext:</a:t>
            </a:r>
          </a:p>
          <a:p>
            <a:r>
              <a:t>Für meinen Restore-Nachweis verwende ich den eindeutigen Testdatensatz IHK-RESTORE-UI-001 mit dem Highscore 1900. Der Ausgangszustand wird dokumentiert. Anschließend erstelle ich mit mongodump das Backup.</a:t>
            </a:r>
          </a:p>
          <a:p>
            <a:endParaRPr/>
          </a:p>
          <a:p>
            <a:r>
              <a:t>Für die erzeugte Backup-Datei ist die SHA256-Prüfsumme 4fec6a6a14fbfeefe09df34058e26d70f5a6b8f9d79831473630423a937718fb dokumentiert. Diese Prüfsumme weist die Integrität der Backup-Datei nach.</a:t>
            </a:r>
          </a:p>
          <a:p>
            <a:endParaRPr/>
          </a:p>
          <a:p>
            <a:r>
              <a:t>Danach lösche ich den Testdatensatz kontrolliert; der Nachweis zeigt deletedCount 1. Anschließend wird das Backup mit mongorestore wiederhergestellt und in der Anwendung geprüft, ob IHK-RESTORE-UI-001 mit dem Highscore 1900 wieder vorhanden ist.</a:t>
            </a:r>
          </a:p>
          <a:p>
            <a:endParaRPr/>
          </a:p>
          <a:p>
            <a:r>
              <a:t>Als zusätzlichen technischen Vergleich kann ich einen deterministischen Datenexport vor der Löschung und nach dem Restore hashen. Das Ziel ist: Daten-SHA vor der Löschung gleich Daten-SHA nach dem Restore. Die konkreten Daten-SHA-Werte werden auf der Folie erst eingetragen, wenn sie tatsächlich gemessen und nachgewiesen wurden.</a:t>
            </a:r>
          </a:p>
          <a:p>
            <a:endParaRPr/>
          </a:p>
          <a:p>
            <a:r>
              <a:t>Prüfungsfokus:</a:t>
            </a:r>
          </a:p>
          <a:p>
            <a:r>
              <a:t>Ich trenne zwei Nachweise: Der Backup-SHA prüft die Integrität der Backup-Datei. Der Daten-SHA-Vergleich prüft zusätzlich, ob der betrachtete Datenzustand nach dem Restore wieder dem Ausgangszustand entspricht. Zusammen mit dem UI-Nachweis ergibt sich eine nachvollziehbare Restore-Beweiskette.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4677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 kurz halten. Danach Übergang zu Live-Demo oder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 Ende ruhig bleiben. Bei Fachfragen auf konkrete Nachweise und Dateien verweisen.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4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8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0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6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1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7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3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4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7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02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26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6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2743200" y="0"/>
            <a:ext cx="94484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46120" y="1965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4A7A"/>
                </a:solidFill>
              </a:rPr>
              <a:t>Pacman – CI/CD und GitOps auf Kubernetes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3273552" y="2743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5F9E"/>
                </a:solidFill>
              </a:rPr>
              <a:t>IHK-Projektpräsentation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73552" y="3127248"/>
            <a:ext cx="1508760" cy="0"/>
          </a:xfrm>
          <a:prstGeom prst="line">
            <a:avLst/>
          </a:prstGeom>
          <a:noFill/>
          <a:ln w="25400">
            <a:solidFill>
              <a:srgbClr val="0E5F9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291840" y="382219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Ibrahim Sangaré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September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83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DevOps-/GitOps-Abschlussprojekt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Pacman Game mit MongoDB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Ibrahim Sangaré | Pacman DevOps-/GitOps-Abschlussprojekt | Folie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Agenda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4A7A"/>
                </a:solidFill>
              </a:rPr>
              <a:t>Überblick über die Projektpräsentation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6565392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</a:rPr>
              <a:t>Ibrahim Sangaré | Pacman DevOps-/GitOps-Abschlussprojekt | Folie 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60120" y="11521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143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Ausgangssituation und Ziel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7465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Anwendung, Architektur und Containerisierung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23408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331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CI, Release und Image-Nachweise</a:t>
            </a:r>
          </a:p>
        </p:txBody>
      </p:sp>
      <p:sp>
        <p:nvSpPr>
          <p:cNvPr id="12" name="Text 10"/>
          <p:cNvSpPr/>
          <p:nvPr/>
        </p:nvSpPr>
        <p:spPr>
          <a:xfrm>
            <a:off x="960120" y="29352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926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GitOps, Argo CD und Dev/Prod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5295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3520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Betrieb: Monitoring und Grafana</a:t>
            </a:r>
          </a:p>
        </p:txBody>
      </p:sp>
      <p:sp>
        <p:nvSpPr>
          <p:cNvPr id="16" name="Text 14"/>
          <p:cNvSpPr/>
          <p:nvPr/>
        </p:nvSpPr>
        <p:spPr>
          <a:xfrm>
            <a:off x="960120" y="41239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Backup/Restore, Nachweise und Grenzen</a:t>
            </a:r>
          </a:p>
        </p:txBody>
      </p:sp>
      <p:sp>
        <p:nvSpPr>
          <p:cNvPr id="18" name="Text 16"/>
          <p:cNvSpPr/>
          <p:nvPr/>
        </p:nvSpPr>
        <p:spPr>
          <a:xfrm>
            <a:off x="960120" y="4718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4A7A"/>
                </a:solidFill>
              </a:rPr>
              <a:t>07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4709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</a:rPr>
              <a:t>Fazit und Übergabe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40080"/>
          </a:xfrm>
          <a:prstGeom prst="rect">
            <a:avLst/>
          </a:prstGeom>
          <a:solidFill>
            <a:srgbClr val="08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9601200" cy="45720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Ausgangssituation und Zielsetzung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292608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350" b="0" i="1">
                <a:solidFill>
                  <a:srgbClr val="004B7A"/>
                </a:solidFill>
              </a:rPr>
              <a:t>Vom Pacman-Spiel zum nachvollziehbaren DevOps-/GitOps-Betrieb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61288"/>
            <a:ext cx="9496895" cy="283154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r>
              <a:rPr lang="de-DE" sz="1600" dirty="0"/>
              <a:t>Ziel: Docker-Image reproduzierbar bauen, automatisiert testen, versioniert bereitstellen und Betrieb nachweisen</a:t>
            </a:r>
            <a:endParaRPr sz="1520" b="0" i="0" dirty="0">
              <a:solidFill>
                <a:srgbClr val="19233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581912"/>
            <a:ext cx="11109960" cy="18288"/>
          </a:xfrm>
          <a:prstGeom prst="rect">
            <a:avLst/>
          </a:prstGeom>
          <a:solidFill>
            <a:srgbClr val="5B9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383280" cy="1965960"/>
          </a:xfrm>
          <a:prstGeom prst="roundRect">
            <a:avLst/>
          </a:prstGeom>
          <a:solidFill>
            <a:srgbClr val="EBF5FC"/>
          </a:solidFill>
          <a:ln w="12700">
            <a:solidFill>
              <a:srgbClr val="BA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bIns="73152" rtlCol="0" anchor="ctr"/>
          <a:lstStyle/>
          <a:p>
            <a:pPr algn="ctr"/>
            <a:r>
              <a:rPr sz="1600" b="1">
                <a:solidFill>
                  <a:srgbClr val="004B7A"/>
                </a:solidFill>
              </a:rPr>
              <a:t>1. Ausgangslage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bestehende Pacman-Webanwendung auf Node.js-/Express-Basis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MongoDB speichert fachliche Daten wie Highscores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Betrieb sollte reproduzierbar, prüfbar und dokumentiert werden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83080"/>
            <a:ext cx="3383280" cy="1965960"/>
          </a:xfrm>
          <a:prstGeom prst="roundRect">
            <a:avLst/>
          </a:prstGeom>
          <a:solidFill>
            <a:srgbClr val="F3F8FC"/>
          </a:solidFill>
          <a:ln w="12700">
            <a:solidFill>
              <a:srgbClr val="BA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bIns="73152" rtlCol="0" anchor="ctr"/>
          <a:lstStyle/>
          <a:p>
            <a:pPr algn="ctr"/>
            <a:r>
              <a:rPr sz="1600" b="1">
                <a:solidFill>
                  <a:srgbClr val="004B7A"/>
                </a:solidFill>
              </a:rPr>
              <a:t>2. Herausforderung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Build, Tests, Deployment und Betrieb nachvollziehbar verbinden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Secrets, Persistenz, Rollback und Restore praktisch nachweisen</a:t>
            </a: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t>dev und prod getrennt, aber konsistent verwalten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4736" y="1783080"/>
            <a:ext cx="3383280" cy="1965960"/>
          </a:xfrm>
          <a:prstGeom prst="roundRect">
            <a:avLst/>
          </a:prstGeom>
          <a:solidFill>
            <a:srgbClr val="EBF7F0"/>
          </a:solidFill>
          <a:ln w="12700">
            <a:solidFill>
              <a:srgbClr val="BA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bIns="73152" rtlCol="0" anchor="ctr"/>
          <a:lstStyle/>
          <a:p>
            <a:pPr algn="ctr"/>
            <a:r>
              <a:rPr sz="1600" b="1" dirty="0">
                <a:solidFill>
                  <a:srgbClr val="004B7A"/>
                </a:solidFill>
              </a:rPr>
              <a:t>3. </a:t>
            </a:r>
            <a:r>
              <a:rPr sz="1600" b="1" dirty="0" err="1">
                <a:solidFill>
                  <a:srgbClr val="004B7A"/>
                </a:solidFill>
              </a:rPr>
              <a:t>Projektziel</a:t>
            </a:r>
            <a:endParaRPr sz="1600" b="1" dirty="0">
              <a:solidFill>
                <a:srgbClr val="004B7A"/>
              </a:solidFill>
            </a:endParaRPr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rPr dirty="0"/>
              <a:t>Docker-Image </a:t>
            </a:r>
            <a:r>
              <a:rPr dirty="0" err="1"/>
              <a:t>reproduzierbar</a:t>
            </a:r>
            <a:r>
              <a:rPr dirty="0"/>
              <a:t> </a:t>
            </a:r>
            <a:r>
              <a:rPr dirty="0" err="1"/>
              <a:t>bauen</a:t>
            </a:r>
            <a:r>
              <a:rPr dirty="0"/>
              <a:t> und </a:t>
            </a:r>
            <a:r>
              <a:rPr dirty="0" err="1"/>
              <a:t>testen</a:t>
            </a:r>
            <a:endParaRPr dirty="0"/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rPr dirty="0"/>
              <a:t>Image </a:t>
            </a:r>
            <a:r>
              <a:rPr dirty="0" err="1"/>
              <a:t>versioniert</a:t>
            </a:r>
            <a:r>
              <a:rPr dirty="0"/>
              <a:t> in </a:t>
            </a:r>
            <a:r>
              <a:rPr lang="de-DE" b="1" dirty="0"/>
              <a:t>GHCR</a:t>
            </a:r>
            <a:r>
              <a:rPr lang="de-DE" dirty="0"/>
              <a:t> (GitHub Container Registry) </a:t>
            </a:r>
            <a:r>
              <a:rPr dirty="0" err="1"/>
              <a:t>veröffentlichen</a:t>
            </a:r>
            <a:endParaRPr dirty="0"/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rPr dirty="0"/>
              <a:t>Kubernetes-</a:t>
            </a:r>
            <a:r>
              <a:rPr dirty="0" err="1"/>
              <a:t>Sollzustand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GitOps</a:t>
            </a:r>
            <a:r>
              <a:rPr dirty="0"/>
              <a:t> und Argo CD </a:t>
            </a:r>
            <a:r>
              <a:rPr dirty="0" err="1"/>
              <a:t>bereitstellen</a:t>
            </a:r>
            <a:endParaRPr dirty="0"/>
          </a:p>
          <a:p>
            <a:pPr marL="280000">
              <a:lnSpc>
                <a:spcPct val="105000"/>
              </a:lnSpc>
              <a:spcAft>
                <a:spcPts val="200"/>
              </a:spcAft>
              <a:defRPr sz="1130">
                <a:solidFill>
                  <a:srgbClr val="192334"/>
                </a:solidFill>
              </a:defRPr>
            </a:pPr>
            <a:r>
              <a:rPr dirty="0"/>
              <a:t>Monitoring </a:t>
            </a:r>
            <a:r>
              <a:rPr dirty="0" err="1"/>
              <a:t>sowie</a:t>
            </a:r>
            <a:r>
              <a:rPr dirty="0"/>
              <a:t> Backup/Restore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Betriebsnachweis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29184" y="6510528"/>
            <a:ext cx="7040880" cy="182880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650" b="0" i="0" dirty="0">
                <a:solidFill>
                  <a:srgbClr val="556278"/>
                </a:solidFill>
              </a:rPr>
              <a:t>Ibrahim Sangaré | Pacman DevOps-/</a:t>
            </a:r>
            <a:r>
              <a:rPr sz="650" b="0" i="0" dirty="0" err="1">
                <a:solidFill>
                  <a:srgbClr val="556278"/>
                </a:solidFill>
              </a:rPr>
              <a:t>GitOps-Abschlussprojekt</a:t>
            </a:r>
            <a:r>
              <a:rPr sz="650" b="0" i="0" dirty="0">
                <a:solidFill>
                  <a:srgbClr val="556278"/>
                </a:solidFill>
              </a:rPr>
              <a:t> | Folie 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0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0896" y="109728"/>
            <a:ext cx="8686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Pacman-Anwendung – technische Ausgangsbasis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713232"/>
            <a:ext cx="7772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50" b="0" i="1">
                <a:solidFill>
                  <a:srgbClr val="004E7E"/>
                </a:solidFill>
                <a:latin typeface="Arial"/>
              </a:rPr>
              <a:t>Node.js / Express, Startverhalten, Port 8080 und MongoDB-Datenfluss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" y="1042415"/>
            <a:ext cx="3657600" cy="18288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1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1143000"/>
            <a:ext cx="329184" cy="329184"/>
          </a:xfrm>
          <a:prstGeom prst="ellipse">
            <a:avLst/>
          </a:prstGeom>
          <a:solidFill>
            <a:srgbClr val="004E7E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61288"/>
            <a:ext cx="28803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i="0">
                <a:solidFill>
                  <a:srgbClr val="004E7E"/>
                </a:solidFill>
                <a:latin typeface="Arial"/>
              </a:rPr>
              <a:t>Was ist Pacman technisch?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36192"/>
            <a:ext cx="3154680" cy="1051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buChar char="•"/>
              <a:defRPr sz="1220">
                <a:solidFill>
                  <a:srgbClr val="141A26"/>
                </a:solidFill>
                <a:latin typeface="Arial"/>
              </a:defRPr>
            </a:pPr>
            <a:r>
              <a:t>Node.js/Express-Webanwendung</a:t>
            </a:r>
          </a:p>
          <a:p>
            <a:pPr>
              <a:buChar char="•"/>
              <a:defRPr sz="1220">
                <a:solidFill>
                  <a:srgbClr val="141A26"/>
                </a:solidFill>
                <a:latin typeface="Arial"/>
              </a:defRPr>
            </a:pPr>
            <a:r>
              <a:t>läuft im Container auf Port 8080</a:t>
            </a:r>
          </a:p>
          <a:p>
            <a:pPr>
              <a:buChar char="•"/>
              <a:defRPr sz="1220">
                <a:solidFill>
                  <a:srgbClr val="141A26"/>
                </a:solidFill>
                <a:latin typeface="Arial"/>
              </a:defRPr>
            </a:pPr>
            <a:r>
              <a:t>Express verarbeitet HTTP-Routen</a:t>
            </a:r>
          </a:p>
          <a:p>
            <a:pPr>
              <a:buChar char="•"/>
              <a:defRPr sz="1220">
                <a:solidFill>
                  <a:srgbClr val="141A26"/>
                </a:solidFill>
                <a:latin typeface="Arial"/>
              </a:defRPr>
            </a:pPr>
            <a:r>
              <a:t>MongoDB speichert Highscores</a:t>
            </a:r>
          </a:p>
          <a:p>
            <a:pPr>
              <a:buChar char="•"/>
              <a:defRPr sz="1220">
                <a:solidFill>
                  <a:srgbClr val="141A26"/>
                </a:solidFill>
                <a:latin typeface="Arial"/>
              </a:defRPr>
            </a:pPr>
            <a:r>
              <a:t>Grundlage für Docker, CI/CD und GitOps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42415"/>
            <a:ext cx="7516368" cy="1828800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1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70832" y="1143000"/>
            <a:ext cx="329184" cy="329184"/>
          </a:xfrm>
          <a:prstGeom prst="ellipse">
            <a:avLst/>
          </a:prstGeom>
          <a:solidFill>
            <a:srgbClr val="004E7E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161288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i="0">
                <a:solidFill>
                  <a:srgbClr val="004E7E"/>
                </a:solidFill>
                <a:latin typeface="Arial"/>
              </a:rPr>
              <a:t>Start im 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536192"/>
            <a:ext cx="1005840" cy="640080"/>
          </a:xfrm>
          <a:prstGeom prst="roundRect">
            <a:avLst/>
          </a:prstGeom>
          <a:solidFill>
            <a:srgbClr val="F4EEFF"/>
          </a:solidFill>
          <a:ln w="12700">
            <a:solidFill>
              <a:srgbClr val="62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9144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6235B1"/>
                </a:solidFill>
                <a:latin typeface="Arial"/>
              </a:rPr>
              <a:t>npm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1901952"/>
            <a:ext cx="85953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Startbefehl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152" y="1536192"/>
            <a:ext cx="1005840" cy="640080"/>
          </a:xfrm>
          <a:prstGeom prst="roundRect">
            <a:avLst/>
          </a:prstGeom>
          <a:solidFill>
            <a:srgbClr val="E8F8ED"/>
          </a:solidFill>
          <a:ln w="12700">
            <a:solidFill>
              <a:srgbClr val="168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1627632"/>
            <a:ext cx="9144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16823F"/>
                </a:solidFill>
                <a:latin typeface="Arial"/>
              </a:rP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901952"/>
            <a:ext cx="85953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führt Server aus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59552" y="1856231"/>
            <a:ext cx="192024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50024" y="1536192"/>
            <a:ext cx="1005840" cy="64008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CD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95744" y="1627632"/>
            <a:ext cx="9144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CD6900"/>
                </a:solidFill>
                <a:latin typeface="Arial"/>
              </a:rPr>
              <a:t>app.js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3176" y="1901952"/>
            <a:ext cx="85953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Express-App laden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21424" y="1856231"/>
            <a:ext cx="192024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11896" y="1536192"/>
            <a:ext cx="1005840" cy="640080"/>
          </a:xfrm>
          <a:prstGeom prst="roundRect">
            <a:avLst/>
          </a:prstGeom>
          <a:solidFill>
            <a:srgbClr val="E7F4FF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7616" y="1627632"/>
            <a:ext cx="9144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67AA"/>
                </a:solidFill>
                <a:latin typeface="Arial"/>
              </a:rPr>
              <a:t>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1901952"/>
            <a:ext cx="85953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Routen &amp; Middleware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83296" y="1856231"/>
            <a:ext cx="192024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73768" y="1536192"/>
            <a:ext cx="1005840" cy="640080"/>
          </a:xfrm>
          <a:prstGeom prst="roundRect">
            <a:avLst/>
          </a:prstGeom>
          <a:solidFill>
            <a:srgbClr val="E7F4FF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19488" y="1627632"/>
            <a:ext cx="91440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0067AA"/>
                </a:solidFill>
                <a:latin typeface="Arial"/>
              </a:rPr>
              <a:t>Port 8080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1901952"/>
            <a:ext cx="85953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HTTP-Server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45167" y="1856231"/>
            <a:ext cx="192025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526280" y="2331720"/>
            <a:ext cx="6812280" cy="411480"/>
          </a:xfrm>
          <a:prstGeom prst="rect">
            <a:avLst/>
          </a:prstGeom>
          <a:solidFill>
            <a:srgbClr val="EFF7FF"/>
          </a:solidFill>
          <a:ln w="12700">
            <a:solidFill>
              <a:srgbClr val="CD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414016"/>
            <a:ext cx="66294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19" b="0" i="0">
                <a:solidFill>
                  <a:srgbClr val="141A26"/>
                </a:solidFill>
                <a:latin typeface="Arial"/>
              </a:rPr>
              <a:t>Kernaussage: Die Anwendung startet im Container als Node.js-Prozess. Express stellt die HTTP-Schnittstellen bereit, die später von Service, Ingress und Tests angesprochen werden.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" y="2941612"/>
            <a:ext cx="11439144" cy="2999233"/>
          </a:xfrm>
          <a:prstGeom prst="roundRect">
            <a:avLst/>
          </a:prstGeom>
          <a:solidFill>
            <a:srgbClr val="F7FBFF"/>
          </a:solidFill>
          <a:ln w="12700">
            <a:solidFill>
              <a:srgbClr val="B1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7200" y="3042196"/>
            <a:ext cx="329184" cy="329184"/>
          </a:xfrm>
          <a:prstGeom prst="ellipse">
            <a:avLst/>
          </a:prstGeom>
          <a:solidFill>
            <a:srgbClr val="004E7E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060484"/>
            <a:ext cx="2971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i="0" dirty="0" err="1">
                <a:solidFill>
                  <a:srgbClr val="004E7E"/>
                </a:solidFill>
                <a:latin typeface="Arial"/>
              </a:rPr>
              <a:t>Datenfluss</a:t>
            </a:r>
            <a:r>
              <a:rPr sz="16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004E7E"/>
                </a:solidFill>
                <a:latin typeface="Arial"/>
              </a:rPr>
              <a:t>zur</a:t>
            </a:r>
            <a:r>
              <a:rPr sz="1600" b="1" i="0" dirty="0">
                <a:solidFill>
                  <a:srgbClr val="004E7E"/>
                </a:solidFill>
                <a:latin typeface="Arial"/>
              </a:rPr>
              <a:t> MongoDB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3673132"/>
            <a:ext cx="1417320" cy="676656"/>
          </a:xfrm>
          <a:prstGeom prst="roundRect">
            <a:avLst/>
          </a:prstGeom>
          <a:solidFill>
            <a:srgbClr val="E7F4FF"/>
          </a:solidFill>
          <a:ln w="12700">
            <a:solidFill>
              <a:srgbClr val="006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" y="3764571"/>
            <a:ext cx="13258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50" b="1" i="0">
                <a:solidFill>
                  <a:srgbClr val="0067AA"/>
                </a:solidFill>
                <a:latin typeface="Arial"/>
              </a:rPr>
              <a:t>Pacman-App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038892"/>
            <a:ext cx="127101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" b="0" i="0">
                <a:solidFill>
                  <a:srgbClr val="4A5568"/>
                </a:solidFill>
                <a:latin typeface="Arial"/>
              </a:rPr>
              <a:t>liest/schreibt
Highscores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42032" y="3673132"/>
            <a:ext cx="1417320" cy="676656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CD6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87752" y="3764571"/>
            <a:ext cx="13258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50" b="1" i="0">
                <a:solidFill>
                  <a:srgbClr val="CD6900"/>
                </a:solidFill>
                <a:latin typeface="Arial"/>
              </a:rPr>
              <a:t>mongodb:27017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5184" y="4038892"/>
            <a:ext cx="127101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" b="0" i="0">
                <a:solidFill>
                  <a:srgbClr val="4A5568"/>
                </a:solidFill>
                <a:latin typeface="Arial"/>
              </a:rPr>
              <a:t>Servicename + Port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93976" y="4011460"/>
            <a:ext cx="374904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462272" y="3673132"/>
            <a:ext cx="1417320" cy="676656"/>
          </a:xfrm>
          <a:prstGeom prst="roundRect">
            <a:avLst/>
          </a:prstGeom>
          <a:solidFill>
            <a:srgbClr val="E8F8ED"/>
          </a:solidFill>
          <a:ln w="12700">
            <a:solidFill>
              <a:srgbClr val="168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07992" y="3764571"/>
            <a:ext cx="13258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50" b="1" i="0">
                <a:solidFill>
                  <a:srgbClr val="16823F"/>
                </a:solidFill>
                <a:latin typeface="Arial"/>
              </a:rPr>
              <a:t>MongoDB-Pod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4" y="4038892"/>
            <a:ext cx="127101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" b="0" i="0">
                <a:solidFill>
                  <a:srgbClr val="4A5568"/>
                </a:solidFill>
                <a:latin typeface="Arial"/>
              </a:rPr>
              <a:t>Datenbankprozess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14215" y="4011460"/>
            <a:ext cx="374905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382512" y="3673132"/>
            <a:ext cx="1417320" cy="676656"/>
          </a:xfrm>
          <a:prstGeom prst="roundRect">
            <a:avLst/>
          </a:prstGeom>
          <a:solidFill>
            <a:srgbClr val="E8F8ED"/>
          </a:solidFill>
          <a:ln w="12700">
            <a:solidFill>
              <a:srgbClr val="168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28232" y="3764571"/>
            <a:ext cx="1325880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950" b="1" i="0">
                <a:solidFill>
                  <a:srgbClr val="16823F"/>
                </a:solidFill>
                <a:latin typeface="Arial"/>
              </a:rPr>
              <a:t>PVC / PV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4038892"/>
            <a:ext cx="1271016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20" b="0" i="0">
                <a:solidFill>
                  <a:srgbClr val="4A5568"/>
                </a:solidFill>
                <a:latin typeface="Arial"/>
              </a:rPr>
              <a:t>persistente Daten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34455" y="4011460"/>
            <a:ext cx="374905" cy="0"/>
          </a:xfrm>
          <a:prstGeom prst="line">
            <a:avLst/>
          </a:prstGeom>
          <a:ln w="19050">
            <a:solidFill>
              <a:srgbClr val="004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616952" y="3170212"/>
            <a:ext cx="374903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30" b="1" i="0">
                <a:solidFill>
                  <a:srgbClr val="004E7E"/>
                </a:solidFill>
                <a:latin typeface="Arial"/>
              </a:rPr>
              <a:t>Verbindungsdaten kommen aus der Konfiguration: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4750257"/>
            <a:ext cx="3794760" cy="1115568"/>
          </a:xfrm>
          <a:prstGeom prst="rect">
            <a:avLst/>
          </a:prstGeom>
          <a:solidFill>
            <a:srgbClr val="F8FBFF"/>
          </a:solidFill>
          <a:ln w="12700">
            <a:solidFill>
              <a:srgbClr val="CA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1" y="4896562"/>
            <a:ext cx="141732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50" b="1" i="0">
                <a:solidFill>
                  <a:srgbClr val="141A26"/>
                </a:solidFill>
                <a:latin typeface="Arial"/>
              </a:rPr>
              <a:t>ConfigMap: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5106874"/>
            <a:ext cx="17830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buChar char="•"/>
              <a:defRPr sz="850">
                <a:solidFill>
                  <a:srgbClr val="141A26"/>
                </a:solidFill>
                <a:latin typeface="Arial"/>
              </a:defRPr>
            </a:pPr>
            <a:r>
              <a:rPr dirty="0"/>
              <a:t>MONGO_SERVICE_HOST</a:t>
            </a:r>
          </a:p>
          <a:p>
            <a:pPr>
              <a:buChar char="•"/>
              <a:defRPr sz="850">
                <a:solidFill>
                  <a:srgbClr val="141A26"/>
                </a:solidFill>
                <a:latin typeface="Arial"/>
              </a:defRPr>
            </a:pPr>
            <a:r>
              <a:rPr dirty="0"/>
              <a:t>MY_MONGO_PORT</a:t>
            </a:r>
          </a:p>
          <a:p>
            <a:pPr>
              <a:buChar char="•"/>
              <a:defRPr sz="850">
                <a:solidFill>
                  <a:srgbClr val="141A26"/>
                </a:solidFill>
                <a:latin typeface="Arial"/>
              </a:defRPr>
            </a:pPr>
            <a:r>
              <a:rPr dirty="0"/>
              <a:t>MONGO_DATABASE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4896562"/>
            <a:ext cx="114300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50" b="1" i="0">
                <a:solidFill>
                  <a:srgbClr val="141A26"/>
                </a:solidFill>
                <a:latin typeface="Arial"/>
              </a:rPr>
              <a:t>Secret: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52344" y="5106874"/>
            <a:ext cx="1280160" cy="40233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buChar char="•"/>
              <a:defRPr sz="850">
                <a:solidFill>
                  <a:srgbClr val="141A26"/>
                </a:solidFill>
                <a:latin typeface="Arial"/>
              </a:defRPr>
            </a:pPr>
            <a:r>
              <a:t>Benutzername</a:t>
            </a:r>
          </a:p>
          <a:p>
            <a:pPr>
              <a:buChar char="•"/>
              <a:defRPr sz="850">
                <a:solidFill>
                  <a:srgbClr val="141A26"/>
                </a:solidFill>
                <a:latin typeface="Arial"/>
              </a:defRPr>
            </a:pPr>
            <a:r>
              <a:t>Passwort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16952" y="4889284"/>
            <a:ext cx="3794760" cy="667512"/>
          </a:xfrm>
          <a:prstGeom prst="roundRect">
            <a:avLst/>
          </a:prstGeom>
          <a:solidFill>
            <a:srgbClr val="EFF8F0"/>
          </a:solidFill>
          <a:ln w="12700">
            <a:solidFill>
              <a:srgbClr val="BB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0" y="4999012"/>
            <a:ext cx="128016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80" b="1" i="0">
                <a:solidFill>
                  <a:srgbClr val="16823F"/>
                </a:solidFill>
                <a:latin typeface="Arial"/>
              </a:rPr>
              <a:t>HTTP-Routen: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4962436"/>
            <a:ext cx="25603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869" b="0" i="0">
                <a:solidFill>
                  <a:srgbClr val="141A26"/>
                </a:solidFill>
                <a:latin typeface="Arial"/>
              </a:rPr>
              <a:t>Express ordnet URLs wie /highscores oder /game den passenden Funktionen zu.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" y="6169444"/>
            <a:ext cx="11430000" cy="320040"/>
          </a:xfrm>
          <a:prstGeom prst="rect">
            <a:avLst/>
          </a:prstGeom>
          <a:solidFill>
            <a:srgbClr val="E6F2FF"/>
          </a:solidFill>
          <a:ln w="12700">
            <a:solidFill>
              <a:srgbClr val="B4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251740"/>
            <a:ext cx="10927080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1" i="0" dirty="0" err="1">
                <a:solidFill>
                  <a:srgbClr val="004E7E"/>
                </a:solidFill>
                <a:latin typeface="Arial"/>
              </a:rPr>
              <a:t>Prüfungsfokus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: Die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Spiellogik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wurde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nicht neu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entwickelt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; die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bestehende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Anwendung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wurde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containerisiert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,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automatisiert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getestet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und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über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GitOps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betreibbar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004E7E"/>
                </a:solidFill>
                <a:latin typeface="Arial"/>
              </a:rPr>
              <a:t>gemacht</a:t>
            </a:r>
            <a:r>
              <a:rPr sz="900" b="1" i="0" dirty="0">
                <a:solidFill>
                  <a:srgbClr val="004E7E"/>
                </a:solidFill>
                <a:latin typeface="Arial"/>
              </a:rPr>
              <a:t>.</a:t>
            </a:r>
          </a:p>
        </p:txBody>
      </p:sp>
      <p:sp>
        <p:nvSpPr>
          <p:cNvPr id="63" name="TextBox 17">
            <a:extLst>
              <a:ext uri="{FF2B5EF4-FFF2-40B4-BE49-F238E27FC236}">
                <a16:creationId xmlns:a16="http://schemas.microsoft.com/office/drawing/2014/main" id="{937AC182-CD74-592B-572C-F450AEAFB44B}"/>
              </a:ext>
            </a:extLst>
          </p:cNvPr>
          <p:cNvSpPr txBox="1"/>
          <p:nvPr/>
        </p:nvSpPr>
        <p:spPr>
          <a:xfrm>
            <a:off x="329184" y="6510528"/>
            <a:ext cx="2601033" cy="136961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650" b="0" i="0" dirty="0">
                <a:solidFill>
                  <a:srgbClr val="556278"/>
                </a:solidFill>
              </a:rPr>
              <a:t>Ibrahim Sangaré | Pacman DevOps-/</a:t>
            </a:r>
            <a:r>
              <a:rPr sz="650" b="0" i="0" dirty="0" err="1">
                <a:solidFill>
                  <a:srgbClr val="556278"/>
                </a:solidFill>
              </a:rPr>
              <a:t>GitOps-Abschlussprojekt</a:t>
            </a:r>
            <a:r>
              <a:rPr sz="650" b="0" i="0" dirty="0">
                <a:solidFill>
                  <a:srgbClr val="556278"/>
                </a:solidFill>
              </a:rPr>
              <a:t> | Folie </a:t>
            </a:r>
            <a:r>
              <a:rPr lang="de-DE" sz="650" b="0" i="0" dirty="0">
                <a:solidFill>
                  <a:srgbClr val="556278"/>
                </a:solidFill>
              </a:rPr>
              <a:t>4</a:t>
            </a:r>
            <a:endParaRPr sz="650" b="0" i="0" dirty="0">
              <a:solidFill>
                <a:srgbClr val="556278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55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Projektarchitektur im 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456E"/>
                </a:solidFill>
                <a:latin typeface="Arial"/>
              </a:defRPr>
            </a:pPr>
            <a:r>
              <a:t>Vom lokalen Code über CI/CD, GHCR und GitOps bis zur Pacman-Anwendung im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6565392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05050"/>
                </a:solidFill>
                <a:latin typeface="Arial"/>
              </a:defRPr>
            </a:pPr>
            <a:r>
              <a:t>Ibrahim Sangaré | Pacman DevOps-/GitOps-Abschlussprojekt | Folie 5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2E0F177-73D1-F2D3-6348-B74C25803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73" y="1088590"/>
            <a:ext cx="10814180" cy="53642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E5B8E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37160"/>
            <a:ext cx="10972800" cy="31089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Codeanalyse und Containerisierung mit Docker &amp;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502920"/>
            <a:ext cx="1051560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Reproduzierbarer Image-Build, non-root Betrieb und lokaler Integrationsfluss mit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" y="987552"/>
            <a:ext cx="3840480" cy="1417320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3621024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1">
                <a:solidFill>
                  <a:srgbClr val="0E5B8E"/>
                </a:solidFill>
                <a:latin typeface="Aptos"/>
              </a:rPr>
              <a:t>Dockerfile – Code-Entscheidungen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417320"/>
            <a:ext cx="356616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feste Node-Basis: node:16.19.0-bullseye-slim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18488"/>
            <a:ext cx="356616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package*.json zuerst: Dependency-Layer cachebar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19656"/>
            <a:ext cx="356616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npm ci --omit=dev: nur produktive Abhängigkeiten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20824"/>
            <a:ext cx="356616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USER node: non-root Betrieb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221992"/>
            <a:ext cx="356616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EXPOSE 8080 / CMD: node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987552"/>
            <a:ext cx="3657600" cy="1417320"/>
          </a:xfrm>
          <a:prstGeom prst="roundRect">
            <a:avLst/>
          </a:prstGeom>
          <a:solidFill>
            <a:srgbClr val="F2F9F3"/>
          </a:solidFill>
          <a:ln w="12700">
            <a:solidFill>
              <a:srgbClr val="127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097280"/>
            <a:ext cx="3438144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1">
                <a:solidFill>
                  <a:srgbClr val="127E45"/>
                </a:solidFill>
                <a:latin typeface="Aptos"/>
              </a:rPr>
              <a:t>Compose – App + 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417320"/>
            <a:ext cx="338328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pacman: build . aus dem Dockerfile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618488"/>
            <a:ext cx="338328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mongodb: mongo:4.4.30-focal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819656"/>
            <a:ext cx="338328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Hostname mongodb = Compose-Servicename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020824"/>
            <a:ext cx="338328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mongodb_data: persistente DB-Daten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21992"/>
            <a:ext cx="338328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nur Pacman-Port 8080 wird veröffentlicht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987552"/>
            <a:ext cx="3822191" cy="1417320"/>
          </a:xfrm>
          <a:prstGeom prst="roundRect">
            <a:avLst/>
          </a:prstGeom>
          <a:solidFill>
            <a:srgbClr val="FFF9EF"/>
          </a:solidFill>
          <a:ln w="12700">
            <a:solidFill>
              <a:srgbClr val="DC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1097280"/>
            <a:ext cx="3602735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1">
                <a:solidFill>
                  <a:srgbClr val="DC8400"/>
                </a:solidFill>
                <a:latin typeface="Aptos"/>
              </a:rPr>
              <a:t>Smoke-/Health-Tests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417320"/>
            <a:ext cx="3547872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MongoDB: ping über db.adminCommand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1618488"/>
            <a:ext cx="3547872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Pacman: HTTP-GET auf localhost:8080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819656"/>
            <a:ext cx="3547872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Erwartung: HTTP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2020824"/>
            <a:ext cx="3547872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ptos"/>
              </a:rPr>
              <a:t>• Ziel: App und DB im lokalen Integrationslauf prüfen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587752"/>
            <a:ext cx="3749039" cy="2743200"/>
          </a:xfrm>
          <a:prstGeom prst="roundRect">
            <a:avLst/>
          </a:prstGeom>
          <a:solidFill>
            <a:srgbClr val="152C3D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724912"/>
            <a:ext cx="338328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Dockerfile-Auszug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090672"/>
            <a:ext cx="3246120" cy="1965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Courier New"/>
              </a:rPr>
              <a:t>FROM node:16.19.0-bullseye-slim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WORKDIR /usr/src/app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COPY package*.json ./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RUN npm ci --omit=dev \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  &amp;&amp; npm cache clean --force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COPY . .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USER node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EXPOSE 8080</a:t>
            </a:r>
            <a:br/>
            <a:r>
              <a:rPr sz="860" b="0">
                <a:solidFill>
                  <a:srgbClr val="FFFFFF"/>
                </a:solidFill>
                <a:latin typeface="Courier New"/>
              </a:rPr>
              <a:t>CMD ["node", "."]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2587752"/>
            <a:ext cx="3703320" cy="2743200"/>
          </a:xfrm>
          <a:prstGeom prst="roundRect">
            <a:avLst/>
          </a:prstGeom>
          <a:solidFill>
            <a:srgbClr val="174E26"/>
          </a:solidFill>
          <a:ln w="12700">
            <a:solidFill>
              <a:srgbClr val="127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2724912"/>
            <a:ext cx="333756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compose.yaml-Auszug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3044952"/>
            <a:ext cx="3218688" cy="21031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Courier New"/>
              </a:rPr>
              <a:t>mongodb: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image: mongo:4.4.30-focal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volumes: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  - mongodb_data:/data/db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healthcheck: mongo --eval "db.adminCommand('ping')"</a:t>
            </a:r>
            <a:br/>
            <a:br/>
            <a:r>
              <a:rPr sz="680" b="0">
                <a:solidFill>
                  <a:srgbClr val="FFFFFF"/>
                </a:solidFill>
                <a:latin typeface="Courier New"/>
              </a:rPr>
              <a:t>pacman: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build: .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ports: ["8080:8080"]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environment: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  MONGO_SERVICE_HOST: mongodb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  MONGO_DATABASE: pacman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  MY_MONGO_PORT: "27017"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healthcheck: node ... HTTP 200</a:t>
            </a:r>
            <a:br/>
            <a:br/>
            <a:r>
              <a:rPr sz="680" b="0">
                <a:solidFill>
                  <a:srgbClr val="FFFFFF"/>
                </a:solidFill>
                <a:latin typeface="Courier New"/>
              </a:rPr>
              <a:t>volumes: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mongodb_data:</a:t>
            </a:r>
            <a:br/>
            <a:r>
              <a:rPr sz="680" b="0">
                <a:solidFill>
                  <a:srgbClr val="FFFFFF"/>
                </a:solidFill>
                <a:latin typeface="Courier New"/>
              </a:rPr>
              <a:t>    driver: local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2606040"/>
            <a:ext cx="37307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2706624"/>
            <a:ext cx="3429000" cy="21945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50" b="1">
                <a:solidFill>
                  <a:srgbClr val="0B446D"/>
                </a:solidFill>
                <a:latin typeface="Aptos"/>
              </a:rPr>
              <a:t>Lokaler Integrationsfluss (docker-compose)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2" y="3063240"/>
            <a:ext cx="1371600" cy="62179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94192" y="3145536"/>
            <a:ext cx="1188720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>
                <a:solidFill>
                  <a:srgbClr val="0E5B8E"/>
                </a:solidFill>
                <a:latin typeface="Aptos"/>
              </a:rPr>
              <a:t>Pacman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364992"/>
            <a:ext cx="1097280" cy="2560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50" b="0">
                <a:solidFill>
                  <a:srgbClr val="141414"/>
                </a:solidFill>
                <a:latin typeface="Aptos"/>
              </a:rPr>
              <a:t>build: .</a:t>
            </a:r>
            <a:br/>
            <a:r>
              <a:rPr sz="750" b="0">
                <a:solidFill>
                  <a:srgbClr val="141414"/>
                </a:solidFill>
                <a:latin typeface="Aptos"/>
              </a:rPr>
              <a:t>8080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3063240"/>
            <a:ext cx="1234440" cy="621792"/>
          </a:xfrm>
          <a:prstGeom prst="roundRect">
            <a:avLst/>
          </a:prstGeom>
          <a:solidFill>
            <a:srgbClr val="F2F9F3"/>
          </a:solidFill>
          <a:ln w="12700">
            <a:solidFill>
              <a:srgbClr val="127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69296" y="3145536"/>
            <a:ext cx="106984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>
                <a:solidFill>
                  <a:srgbClr val="127E45"/>
                </a:solidFill>
                <a:latin typeface="Aptos"/>
              </a:rPr>
              <a:t>MongoDB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3364992"/>
            <a:ext cx="1051560" cy="2560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10" b="0">
                <a:solidFill>
                  <a:srgbClr val="141414"/>
                </a:solidFill>
                <a:latin typeface="Aptos"/>
              </a:rPr>
              <a:t>mongo:4.4.30</a:t>
            </a:r>
            <a:br/>
            <a:r>
              <a:rPr sz="710" b="0">
                <a:solidFill>
                  <a:srgbClr val="141414"/>
                </a:solidFill>
                <a:latin typeface="Aptos"/>
              </a:rPr>
              <a:t>27017 intern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74352" y="3374136"/>
            <a:ext cx="612648" cy="0"/>
          </a:xfrm>
          <a:prstGeom prst="line">
            <a:avLst/>
          </a:prstGeom>
          <a:ln w="15240">
            <a:solidFill>
              <a:srgbClr val="0E5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287000" y="3913632"/>
            <a:ext cx="1234440" cy="502920"/>
          </a:xfrm>
          <a:prstGeom prst="roundRect">
            <a:avLst/>
          </a:prstGeom>
          <a:solidFill>
            <a:srgbClr val="F2F9F3"/>
          </a:solidFill>
          <a:ln w="12700">
            <a:solidFill>
              <a:srgbClr val="127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78440" y="3986784"/>
            <a:ext cx="1051560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00" b="1">
                <a:solidFill>
                  <a:srgbClr val="127E45"/>
                </a:solidFill>
                <a:latin typeface="Aptos"/>
              </a:rPr>
              <a:t>Volume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4178808"/>
            <a:ext cx="1051560" cy="146304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620" b="0">
                <a:solidFill>
                  <a:srgbClr val="141414"/>
                </a:solidFill>
                <a:latin typeface="Aptos"/>
              </a:rPr>
              <a:t>mongodb_data /data/db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904220" y="3685032"/>
            <a:ext cx="0" cy="228600"/>
          </a:xfrm>
          <a:prstGeom prst="line">
            <a:avLst/>
          </a:prstGeom>
          <a:ln>
            <a:solidFill>
              <a:srgbClr val="127E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19872" y="4645152"/>
            <a:ext cx="3730752" cy="694944"/>
          </a:xfrm>
          <a:prstGeom prst="roundRect">
            <a:avLst/>
          </a:prstGeom>
          <a:solidFill>
            <a:srgbClr val="FFF9EF"/>
          </a:solidFill>
          <a:ln w="12700">
            <a:solidFill>
              <a:srgbClr val="DC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4736592"/>
            <a:ext cx="3429000" cy="1828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50" b="1">
                <a:solidFill>
                  <a:srgbClr val="DC8400"/>
                </a:solidFill>
                <a:latin typeface="Aptos"/>
              </a:rPr>
              <a:t>Kernaussage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974336"/>
            <a:ext cx="3429000" cy="2560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10" b="0">
                <a:solidFill>
                  <a:srgbClr val="141414"/>
                </a:solidFill>
                <a:latin typeface="Aptos"/>
              </a:rPr>
              <a:t>Docker baut das Pacman-Image reproduzierbar. Docker Compose startet Pacman und MongoDB gemeinsam und prüft die Erreichbarkeit über Healthchecks.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5623560"/>
            <a:ext cx="1993392" cy="53035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" y="5715000"/>
            <a:ext cx="184708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50" b="1">
                <a:solidFill>
                  <a:srgbClr val="0B446D"/>
                </a:solidFill>
                <a:latin typeface="Aptos"/>
              </a:rPr>
              <a:t>Dockerfile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" y="5934456"/>
            <a:ext cx="1847088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ptos"/>
              </a:rPr>
              <a:t>Build-Anleitung</a:t>
            </a:r>
          </a:p>
        </p:txBody>
      </p:sp>
      <p:cxnSp>
        <p:nvCxnSpPr>
          <p:cNvPr id="50" name="Connector 49"/>
          <p:cNvCxnSpPr>
            <a:cxnSpLocks/>
            <a:endCxn id="51" idx="1"/>
          </p:cNvCxnSpPr>
          <p:nvPr/>
        </p:nvCxnSpPr>
        <p:spPr>
          <a:xfrm>
            <a:off x="2313432" y="5888736"/>
            <a:ext cx="338328" cy="0"/>
          </a:xfrm>
          <a:prstGeom prst="line">
            <a:avLst/>
          </a:prstGeom>
          <a:ln>
            <a:solidFill>
              <a:srgbClr val="0E5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651760" y="5623560"/>
            <a:ext cx="1993392" cy="53035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24912" y="5715000"/>
            <a:ext cx="184708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50" b="1">
                <a:solidFill>
                  <a:srgbClr val="0B446D"/>
                </a:solidFill>
                <a:latin typeface="Aptos"/>
              </a:rPr>
              <a:t>npm ci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4912" y="5934456"/>
            <a:ext cx="1847088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ptos"/>
              </a:rPr>
              <a:t>Lockfile-Install</a:t>
            </a:r>
          </a:p>
        </p:txBody>
      </p:sp>
      <p:cxnSp>
        <p:nvCxnSpPr>
          <p:cNvPr id="54" name="Connector 53"/>
          <p:cNvCxnSpPr>
            <a:cxnSpLocks/>
            <a:endCxn id="55" idx="1"/>
          </p:cNvCxnSpPr>
          <p:nvPr/>
        </p:nvCxnSpPr>
        <p:spPr>
          <a:xfrm>
            <a:off x="4645152" y="5888736"/>
            <a:ext cx="338327" cy="0"/>
          </a:xfrm>
          <a:prstGeom prst="line">
            <a:avLst/>
          </a:prstGeom>
          <a:ln>
            <a:solidFill>
              <a:srgbClr val="0E5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4983479" y="5623560"/>
            <a:ext cx="1993392" cy="53035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56631" y="5715000"/>
            <a:ext cx="184708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50" b="1">
                <a:solidFill>
                  <a:srgbClr val="0B446D"/>
                </a:solidFill>
                <a:latin typeface="Aptos"/>
              </a:rPr>
              <a:t>USER node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56631" y="5934456"/>
            <a:ext cx="1847088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ptos"/>
              </a:rPr>
              <a:t>non-root</a:t>
            </a:r>
          </a:p>
        </p:txBody>
      </p:sp>
      <p:cxnSp>
        <p:nvCxnSpPr>
          <p:cNvPr id="58" name="Connector 57"/>
          <p:cNvCxnSpPr>
            <a:cxnSpLocks/>
            <a:endCxn id="59" idx="1"/>
          </p:cNvCxnSpPr>
          <p:nvPr/>
        </p:nvCxnSpPr>
        <p:spPr>
          <a:xfrm>
            <a:off x="6976871" y="5888736"/>
            <a:ext cx="338328" cy="0"/>
          </a:xfrm>
          <a:prstGeom prst="line">
            <a:avLst/>
          </a:prstGeom>
          <a:ln>
            <a:solidFill>
              <a:srgbClr val="0E5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315199" y="5623560"/>
            <a:ext cx="1993392" cy="53035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88351" y="5715000"/>
            <a:ext cx="184708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50" b="1">
                <a:solidFill>
                  <a:srgbClr val="0B446D"/>
                </a:solidFill>
                <a:latin typeface="Aptos"/>
              </a:rPr>
              <a:t>Compose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88351" y="5934456"/>
            <a:ext cx="1847088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ptos"/>
              </a:rPr>
              <a:t>App + DB</a:t>
            </a:r>
          </a:p>
        </p:txBody>
      </p:sp>
      <p:cxnSp>
        <p:nvCxnSpPr>
          <p:cNvPr id="62" name="Connector 61"/>
          <p:cNvCxnSpPr>
            <a:cxnSpLocks/>
            <a:endCxn id="63" idx="1"/>
          </p:cNvCxnSpPr>
          <p:nvPr/>
        </p:nvCxnSpPr>
        <p:spPr>
          <a:xfrm>
            <a:off x="9308592" y="5888736"/>
            <a:ext cx="338327" cy="0"/>
          </a:xfrm>
          <a:prstGeom prst="line">
            <a:avLst/>
          </a:prstGeom>
          <a:ln>
            <a:solidFill>
              <a:srgbClr val="0E5B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9646919" y="5623560"/>
            <a:ext cx="1993392" cy="530352"/>
          </a:xfrm>
          <a:prstGeom prst="roundRect">
            <a:avLst/>
          </a:prstGeom>
          <a:solidFill>
            <a:srgbClr val="F1F8FC"/>
          </a:solidFill>
          <a:ln w="12700">
            <a:solidFill>
              <a:srgbClr val="0E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20072" y="5715000"/>
            <a:ext cx="1847088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950" b="1">
                <a:solidFill>
                  <a:srgbClr val="0B446D"/>
                </a:solidFill>
                <a:latin typeface="Aptos"/>
              </a:rPr>
              <a:t>HTTP 200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0072" y="5934456"/>
            <a:ext cx="1847088" cy="1371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ptos"/>
              </a:rPr>
              <a:t>Smoke-Test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528816"/>
            <a:ext cx="8229600" cy="133883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50" b="0" dirty="0">
                <a:solidFill>
                  <a:srgbClr val="141414"/>
                </a:solidFill>
                <a:latin typeface="Aptos"/>
              </a:rPr>
              <a:t>Ibrahim Sangaré | Pacman DevOps-/</a:t>
            </a:r>
            <a:r>
              <a:rPr sz="750" b="0" dirty="0" err="1">
                <a:solidFill>
                  <a:srgbClr val="141414"/>
                </a:solidFill>
                <a:latin typeface="Aptos"/>
              </a:rPr>
              <a:t>GitOps-Abschlussprojekt</a:t>
            </a:r>
            <a:r>
              <a:rPr sz="750" b="0" dirty="0">
                <a:solidFill>
                  <a:srgbClr val="141414"/>
                </a:solidFill>
                <a:latin typeface="Aptos"/>
              </a:rPr>
              <a:t> | Folie </a:t>
            </a:r>
            <a:r>
              <a:rPr lang="de-DE" sz="750" b="0" dirty="0">
                <a:solidFill>
                  <a:srgbClr val="141414"/>
                </a:solidFill>
                <a:latin typeface="Aptos"/>
              </a:rPr>
              <a:t>6</a:t>
            </a:r>
            <a:endParaRPr sz="750" b="0" dirty="0">
              <a:solidFill>
                <a:srgbClr val="14141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25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CI, Release und GHCR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7132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75"/>
                </a:solidFill>
              </a:defRPr>
            </a:pPr>
            <a:r>
              <a:t>Geprüfter Build, versioniertes Image und nachvollziehbarer Digest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4C75"/>
                </a:solidFill>
              </a:defRPr>
            </a:pPr>
            <a:r>
              <a:t>CI-Workflow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328"/>
                </a:solidFill>
              </a:defRPr>
            </a:pPr>
            <a:r>
              <a:rPr dirty="0"/>
              <a:t>• Checkout und </a:t>
            </a:r>
            <a:r>
              <a:rPr dirty="0" err="1"/>
              <a:t>npm</a:t>
            </a:r>
            <a:r>
              <a:rPr dirty="0"/>
              <a:t> ci</a:t>
            </a:r>
          </a:p>
          <a:p>
            <a:pPr>
              <a:spcAft>
                <a:spcPts val="500"/>
              </a:spcAft>
              <a:defRPr sz="1300">
                <a:solidFill>
                  <a:srgbClr val="1E2328"/>
                </a:solidFill>
              </a:defRPr>
            </a:pPr>
            <a:r>
              <a:rPr dirty="0"/>
              <a:t>• Docker Build und HTTP-Smoke-Test</a:t>
            </a:r>
          </a:p>
          <a:p>
            <a:pPr>
              <a:spcAft>
                <a:spcPts val="500"/>
              </a:spcAft>
              <a:defRPr sz="1300">
                <a:solidFill>
                  <a:srgbClr val="1E2328"/>
                </a:solidFill>
              </a:defRPr>
            </a:pPr>
            <a:r>
              <a:rPr dirty="0"/>
              <a:t>• </a:t>
            </a:r>
            <a:r>
              <a:rPr dirty="0" err="1"/>
              <a:t>prüft</a:t>
            </a:r>
            <a:r>
              <a:rPr dirty="0"/>
              <a:t> den Stand </a:t>
            </a:r>
            <a:r>
              <a:rPr dirty="0" err="1"/>
              <a:t>vor</a:t>
            </a:r>
            <a:r>
              <a:rPr dirty="0"/>
              <a:t> der </a:t>
            </a:r>
            <a:r>
              <a:rPr dirty="0" err="1"/>
              <a:t>Freigabe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4C75"/>
                </a:solidFill>
              </a:defRPr>
            </a:pPr>
            <a:r>
              <a:t>Release-Workflow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328"/>
                </a:solidFill>
              </a:defRPr>
            </a:pPr>
            <a:r>
              <a:rPr dirty="0"/>
              <a:t>• Image </a:t>
            </a:r>
            <a:r>
              <a:rPr dirty="0" err="1"/>
              <a:t>nach</a:t>
            </a:r>
            <a:r>
              <a:rPr dirty="0"/>
              <a:t> GHCR </a:t>
            </a:r>
            <a:r>
              <a:rPr dirty="0" err="1"/>
              <a:t>pushen</a:t>
            </a: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1E2328"/>
                </a:solidFill>
              </a:defRPr>
            </a:pPr>
            <a:r>
              <a:rPr dirty="0"/>
              <a:t>• Commit-SHA-Tag, Release-Tag und Digest </a:t>
            </a:r>
            <a:r>
              <a:rPr dirty="0" err="1"/>
              <a:t>dokumentieren</a:t>
            </a: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1E2328"/>
                </a:solidFill>
              </a:defRPr>
            </a:pPr>
            <a:r>
              <a:rPr dirty="0"/>
              <a:t>• </a:t>
            </a:r>
            <a:r>
              <a:rPr dirty="0" err="1"/>
              <a:t>Trivy</a:t>
            </a:r>
            <a:r>
              <a:rPr dirty="0"/>
              <a:t> Security-Gate; SBOM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dokumentierten</a:t>
            </a:r>
            <a:r>
              <a:rPr dirty="0"/>
              <a:t> Release nicht </a:t>
            </a:r>
            <a:r>
              <a:rPr dirty="0" err="1"/>
              <a:t>erzeugt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5806439" y="1051560"/>
            <a:ext cx="5699761" cy="4251960"/>
          </a:xfrm>
          <a:prstGeom prst="roundRect">
            <a:avLst/>
          </a:prstGeom>
          <a:solidFill>
            <a:srgbClr val="F6F9FB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353312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4C75"/>
                </a:solidFill>
              </a:defRPr>
            </a:pPr>
            <a:r>
              <a:t>Dokumentierter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83080"/>
            <a:ext cx="4892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E2328"/>
                </a:solidFill>
              </a:defRPr>
            </a:pPr>
            <a:r>
              <a:t>Run-ID: 32585355704</a:t>
            </a:r>
          </a:p>
          <a:p>
            <a:pPr>
              <a:defRPr sz="1050">
                <a:solidFill>
                  <a:srgbClr val="1E2328"/>
                </a:solidFill>
              </a:defRPr>
            </a:pPr>
            <a:r>
              <a:t>Release-Tag: v1.0.0</a:t>
            </a:r>
          </a:p>
          <a:p>
            <a:pPr>
              <a:defRPr sz="1050">
                <a:solidFill>
                  <a:srgbClr val="1E2328"/>
                </a:solidFill>
              </a:defRPr>
            </a:pPr>
            <a:r>
              <a:t>Commit: a4c49abd81d9f5c4472b90110cb3fca5ae0348c2</a:t>
            </a:r>
          </a:p>
          <a:p>
            <a:pPr>
              <a:defRPr sz="1050">
                <a:solidFill>
                  <a:srgbClr val="1E2328"/>
                </a:solidFill>
              </a:defRPr>
            </a:pPr>
            <a:r>
              <a:t>Digest: sha256:114b3c9505cf4dde0e58101127f4e2ae6395928e7f013e33e7c8039cc2496490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12724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4C75"/>
                </a:solidFill>
              </a:defRPr>
            </a:pPr>
            <a:r>
              <a:t>Aktuell laufende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547872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328"/>
                </a:solidFill>
              </a:defRPr>
            </a:pPr>
            <a:r>
              <a:rPr dirty="0"/>
              <a:t>dev: 49d04ea… → sha256:4f920a…</a:t>
            </a:r>
          </a:p>
          <a:p>
            <a:pPr>
              <a:defRPr sz="1200">
                <a:solidFill>
                  <a:srgbClr val="1E2328"/>
                </a:solidFill>
              </a:defRPr>
            </a:pPr>
            <a:r>
              <a:rPr dirty="0"/>
              <a:t>prod: 2ae1f2e… → sha256:8a3055…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462272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55F6E"/>
                </a:solidFill>
              </a:defRPr>
            </a:pPr>
            <a:r>
              <a:t>Hinweis: prod entspricht dem dokumentierten Rollback-Ziel.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49240"/>
            <a:ext cx="10716768" cy="713232"/>
          </a:xfrm>
          <a:prstGeom prst="roundRect">
            <a:avLst/>
          </a:prstGeom>
          <a:solidFill>
            <a:srgbClr val="F9FBFC"/>
          </a:solidFill>
          <a:ln>
            <a:solidFill>
              <a:srgbClr val="CD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E2328"/>
                </a:solidFill>
              </a:defRPr>
            </a:pPr>
            <a:r>
              <a:t>Release-Tag = Version   |   Commit-SHA-Tag = Herkunft   |   Digest = eindeutige Image-Identität   |   SBOM = Stückliste der Softwarebestandteile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446520"/>
            <a:ext cx="4044697" cy="24622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>
            <a:lvl1pPr>
              <a:defRPr sz="750" b="0">
                <a:solidFill>
                  <a:srgbClr val="141414"/>
                </a:solidFill>
                <a:latin typeface="Aptos"/>
              </a:defRPr>
            </a:lvl1pPr>
          </a:lstStyle>
          <a:p>
            <a:r>
              <a:rPr dirty="0"/>
              <a:t>Ibrahim Sangaré | Pacman DevOps-/</a:t>
            </a:r>
            <a:r>
              <a:rPr dirty="0" err="1"/>
              <a:t>GitOps-Abschlussprojekt</a:t>
            </a:r>
            <a:r>
              <a:rPr dirty="0"/>
              <a:t> | Folie </a:t>
            </a:r>
            <a:r>
              <a:rPr lang="de-DE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de-DE" sz="2500" b="1" dirty="0" err="1">
                <a:solidFill>
                  <a:srgbClr val="FFFFFF"/>
                </a:solidFill>
              </a:rPr>
              <a:t>GitOps</a:t>
            </a:r>
            <a:r>
              <a:rPr lang="de-DE" sz="2500" b="1" dirty="0">
                <a:solidFill>
                  <a:srgbClr val="FFFFFF"/>
                </a:solidFill>
              </a:rPr>
              <a:t>-Architektur mit Dev-/</a:t>
            </a:r>
            <a:r>
              <a:rPr lang="de-DE" sz="2500" b="1" dirty="0" err="1">
                <a:solidFill>
                  <a:srgbClr val="FFFFFF"/>
                </a:solidFill>
              </a:rPr>
              <a:t>Prod</a:t>
            </a:r>
            <a:r>
              <a:rPr lang="de-DE" sz="2500" b="1" dirty="0">
                <a:solidFill>
                  <a:srgbClr val="FFFFFF"/>
                </a:solidFill>
              </a:rPr>
              <a:t>-Overlays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 sz="1600">
                <a:solidFill>
                  <a:srgbClr val="00467F"/>
                </a:solidFill>
              </a:defRPr>
            </a:pPr>
            <a:r>
              <a:t>Dev wird automatisch synchronisiert, Prod kontrolliert manuell nach Freigabe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6565392"/>
            <a:ext cx="11430000" cy="16459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r>
              <a:rPr sz="750" dirty="0">
                <a:solidFill>
                  <a:srgbClr val="141414"/>
                </a:solidFill>
                <a:latin typeface="Aptos"/>
              </a:rPr>
              <a:t>Ibrahim Sangaré | Pacman DevOps-/</a:t>
            </a:r>
            <a:r>
              <a:rPr sz="750" dirty="0" err="1">
                <a:solidFill>
                  <a:srgbClr val="141414"/>
                </a:solidFill>
                <a:latin typeface="Aptos"/>
              </a:rPr>
              <a:t>GitOps-Abschlussprojekt</a:t>
            </a:r>
            <a:r>
              <a:rPr sz="750" dirty="0">
                <a:solidFill>
                  <a:srgbClr val="141414"/>
                </a:solidFill>
                <a:latin typeface="Aptos"/>
              </a:rPr>
              <a:t> | Folie </a:t>
            </a:r>
            <a:r>
              <a:rPr lang="de-DE" sz="750" dirty="0">
                <a:solidFill>
                  <a:srgbClr val="141414"/>
                </a:solidFill>
                <a:latin typeface="Aptos"/>
              </a:rPr>
              <a:t>8</a:t>
            </a:r>
            <a:endParaRPr sz="750" dirty="0">
              <a:solidFill>
                <a:srgbClr val="141414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GitHub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pacman-app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1941141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206317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252037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GitHub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Actions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3553097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818273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863993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GHCR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Image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165054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430230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475950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GitOps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Repo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777010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042186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087906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Argo CD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388967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8654143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699863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Kubernetes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10000923" y="1517904"/>
            <a:ext cx="219456" cy="0"/>
          </a:xfrm>
          <a:prstGeom prst="line">
            <a:avLst/>
          </a:prstGeom>
          <a:noFill/>
          <a:ln w="17780">
            <a:solidFill>
              <a:srgbClr val="0B4A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266099" y="1143000"/>
            <a:ext cx="1301061" cy="749808"/>
          </a:xfrm>
          <a:prstGeom prst="roundRect">
            <a:avLst>
              <a:gd name="adj" fmla="val 4878"/>
            </a:avLst>
          </a:prstGeom>
          <a:solidFill>
            <a:srgbClr val="EEF6FB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10311819" y="1216152"/>
            <a:ext cx="120962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0B4A7A"/>
                </a:solidFill>
              </a:rPr>
              <a:t>Monitoring</a:t>
            </a:r>
            <a:endParaRPr lang="en-US" sz="1060" dirty="0"/>
          </a:p>
        </p:txBody>
      </p:sp>
      <p:sp>
        <p:nvSpPr>
          <p:cNvPr id="27" name="Rounded Rectangle 26"/>
          <p:cNvSpPr/>
          <p:nvPr/>
        </p:nvSpPr>
        <p:spPr>
          <a:xfrm>
            <a:off x="6590582" y="1985971"/>
            <a:ext cx="5205178" cy="1207007"/>
          </a:xfrm>
          <a:prstGeom prst="roundRect">
            <a:avLst/>
          </a:prstGeom>
          <a:solidFill>
            <a:srgbClr val="DAF2D0"/>
          </a:solidFill>
          <a:ln w="12700">
            <a:solidFill>
              <a:srgbClr val="5A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l">
              <a:defRPr sz="1700" b="1">
                <a:solidFill>
                  <a:srgbClr val="005A00"/>
                </a:solidFill>
              </a:defRPr>
            </a:pPr>
            <a:r>
              <a:rPr dirty="0"/>
              <a:t>dev-overlay → </a:t>
            </a:r>
            <a:r>
              <a:rPr dirty="0" err="1"/>
              <a:t>pacman</a:t>
            </a:r>
            <a:r>
              <a:rPr dirty="0"/>
              <a:t>-dev</a:t>
            </a:r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Argo-CD-Application dev </a:t>
            </a:r>
            <a:r>
              <a:rPr dirty="0" err="1"/>
              <a:t>liest</a:t>
            </a:r>
            <a:r>
              <a:rPr dirty="0"/>
              <a:t> overlays/dev</a:t>
            </a:r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Auto-Sync: </a:t>
            </a:r>
            <a:r>
              <a:rPr dirty="0" err="1"/>
              <a:t>Änderung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 in den Cluster </a:t>
            </a:r>
            <a:r>
              <a:rPr dirty="0" err="1"/>
              <a:t>übernommen</a:t>
            </a:r>
            <a:endParaRPr dirty="0"/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Self Heal/Prune </a:t>
            </a:r>
            <a:r>
              <a:rPr dirty="0" err="1"/>
              <a:t>halten</a:t>
            </a:r>
            <a:r>
              <a:rPr dirty="0"/>
              <a:t> dev nah am Git-</a:t>
            </a:r>
            <a:r>
              <a:rPr dirty="0" err="1"/>
              <a:t>Sollzustand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6590583" y="3258370"/>
            <a:ext cx="5197586" cy="1261869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D2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l">
              <a:defRPr sz="1700" b="1">
                <a:solidFill>
                  <a:srgbClr val="825000"/>
                </a:solidFill>
              </a:defRPr>
            </a:pPr>
            <a:r>
              <a:rPr dirty="0"/>
              <a:t>prod-overlay → </a:t>
            </a:r>
            <a:r>
              <a:rPr dirty="0" err="1"/>
              <a:t>pacman</a:t>
            </a:r>
            <a:r>
              <a:rPr dirty="0"/>
              <a:t>-prod</a:t>
            </a:r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Argo-CD-Application prod </a:t>
            </a:r>
            <a:r>
              <a:rPr dirty="0" err="1"/>
              <a:t>liest</a:t>
            </a:r>
            <a:r>
              <a:rPr dirty="0"/>
              <a:t> overlays/prod</a:t>
            </a:r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Sync </a:t>
            </a:r>
            <a:r>
              <a:rPr dirty="0" err="1"/>
              <a:t>erfolgt</a:t>
            </a:r>
            <a:r>
              <a:rPr dirty="0"/>
              <a:t> </a:t>
            </a:r>
            <a:r>
              <a:rPr dirty="0" err="1"/>
              <a:t>manuell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Review/</a:t>
            </a:r>
            <a:r>
              <a:rPr dirty="0" err="1"/>
              <a:t>Freigabe</a:t>
            </a:r>
            <a:endParaRPr dirty="0"/>
          </a:p>
          <a:p>
            <a:pPr>
              <a:defRPr sz="1300">
                <a:solidFill>
                  <a:srgbClr val="141E32"/>
                </a:solidFill>
              </a:defRPr>
            </a:pPr>
            <a:r>
              <a:rPr dirty="0"/>
              <a:t>• Promotion </a:t>
            </a:r>
            <a:r>
              <a:rPr dirty="0" err="1"/>
              <a:t>übernimmt</a:t>
            </a:r>
            <a:r>
              <a:rPr dirty="0"/>
              <a:t> </a:t>
            </a:r>
            <a:r>
              <a:rPr dirty="0" err="1"/>
              <a:t>dieselbe</a:t>
            </a:r>
            <a:r>
              <a:rPr dirty="0"/>
              <a:t> </a:t>
            </a:r>
            <a:r>
              <a:rPr dirty="0" err="1"/>
              <a:t>getestete</a:t>
            </a:r>
            <a:r>
              <a:rPr dirty="0"/>
              <a:t> Image-Version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25312"/>
            <a:ext cx="106984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00467F"/>
                </a:solidFill>
              </a:defRPr>
            </a:pPr>
            <a:r>
              <a:rPr dirty="0" err="1"/>
              <a:t>Kernprinzip</a:t>
            </a:r>
            <a:r>
              <a:rPr dirty="0"/>
              <a:t>: Release-Workflow </a:t>
            </a:r>
            <a:r>
              <a:rPr dirty="0" err="1"/>
              <a:t>aktualisiert</a:t>
            </a:r>
            <a:r>
              <a:rPr dirty="0"/>
              <a:t> </a:t>
            </a:r>
            <a:r>
              <a:rPr dirty="0" err="1"/>
              <a:t>GitOps</a:t>
            </a:r>
            <a:r>
              <a:rPr dirty="0"/>
              <a:t> – Argo CD </a:t>
            </a:r>
            <a:r>
              <a:rPr dirty="0" err="1"/>
              <a:t>synchronisiert</a:t>
            </a:r>
            <a:r>
              <a:rPr dirty="0"/>
              <a:t>;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direktes</a:t>
            </a:r>
            <a:r>
              <a:rPr dirty="0"/>
              <a:t> </a:t>
            </a:r>
            <a:r>
              <a:rPr dirty="0" err="1"/>
              <a:t>kubectl</a:t>
            </a:r>
            <a:r>
              <a:rPr dirty="0"/>
              <a:t> apply </a:t>
            </a:r>
            <a:r>
              <a:rPr dirty="0" err="1"/>
              <a:t>aus</a:t>
            </a:r>
            <a:r>
              <a:rPr dirty="0"/>
              <a:t> GitHub Actions.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0B713543-3720-3732-EA84-A18711D73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01294"/>
            <a:ext cx="5503195" cy="392401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4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384048" y="82296"/>
            <a:ext cx="1143000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Betrieb: Monitoring und Alerting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38912" y="713232"/>
            <a:ext cx="111556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/>
            <a:r>
              <a:rPr sz="950" b="0" i="1">
                <a:solidFill>
                  <a:srgbClr val="0E4F79"/>
                </a:solidFill>
              </a:rPr>
              <a:t>Metriken zeigen Symptome – Diagnose erfolgt mit Status, Events und Logs</a:t>
            </a:r>
          </a:p>
        </p:txBody>
      </p:sp>
      <p:sp>
        <p:nvSpPr>
          <p:cNvPr id="5" name="metric_30_Tests T0"/>
          <p:cNvSpPr/>
          <p:nvPr/>
        </p:nvSpPr>
        <p:spPr>
          <a:xfrm>
            <a:off x="685800" y="1051560"/>
            <a:ext cx="233172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2400" b="1" dirty="0">
                <a:solidFill>
                  <a:srgbClr val="0E4F79"/>
                </a:solidFill>
              </a:rPr>
              <a:t>30</a:t>
            </a:r>
          </a:p>
          <a:p>
            <a:pPr algn="ctr"/>
            <a:r>
              <a:rPr lang="de-DE" sz="900" dirty="0">
                <a:solidFill>
                  <a:srgbClr val="495469"/>
                </a:solidFill>
              </a:rPr>
              <a:t>System- &amp; Integrationstests (T01–T30)</a:t>
            </a:r>
            <a:endParaRPr sz="900" dirty="0">
              <a:solidFill>
                <a:srgbClr val="495469"/>
              </a:solidFill>
            </a:endParaRPr>
          </a:p>
        </p:txBody>
      </p:sp>
      <p:sp>
        <p:nvSpPr>
          <p:cNvPr id="6" name="metric_15_DevOps-F"/>
          <p:cNvSpPr/>
          <p:nvPr/>
        </p:nvSpPr>
        <p:spPr>
          <a:xfrm>
            <a:off x="3401568" y="1051560"/>
            <a:ext cx="233172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2400" b="1">
                <a:solidFill>
                  <a:srgbClr val="0E4F79"/>
                </a:solidFill>
              </a:rPr>
              <a:t>15</a:t>
            </a:r>
          </a:p>
          <a:p>
            <a:pPr algn="ctr"/>
            <a:r>
              <a:rPr sz="900">
                <a:solidFill>
                  <a:srgbClr val="495469"/>
                </a:solidFill>
              </a:rPr>
              <a:t>DevOps-Fälle D01–D15</a:t>
            </a:r>
          </a:p>
        </p:txBody>
      </p:sp>
      <p:sp>
        <p:nvSpPr>
          <p:cNvPr id="7" name="metric_8_Fehlerfä"/>
          <p:cNvSpPr/>
          <p:nvPr/>
        </p:nvSpPr>
        <p:spPr>
          <a:xfrm>
            <a:off x="6117336" y="1051560"/>
            <a:ext cx="233172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2400" b="1">
                <a:solidFill>
                  <a:srgbClr val="0E4F79"/>
                </a:solidFill>
              </a:rPr>
              <a:t>8</a:t>
            </a:r>
          </a:p>
          <a:p>
            <a:pPr algn="ctr"/>
            <a:r>
              <a:rPr sz="900">
                <a:solidFill>
                  <a:srgbClr val="495469"/>
                </a:solidFill>
              </a:rPr>
              <a:t>Fehlerfälle F01–F08</a:t>
            </a:r>
          </a:p>
        </p:txBody>
      </p:sp>
      <p:sp>
        <p:nvSpPr>
          <p:cNvPr id="8" name="metric_2_Kern-Ale"/>
          <p:cNvSpPr/>
          <p:nvPr/>
        </p:nvSpPr>
        <p:spPr>
          <a:xfrm>
            <a:off x="8833104" y="1051560"/>
            <a:ext cx="233172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27432" rIns="45720" bIns="27432" rtlCol="0" anchor="ctr"/>
          <a:lstStyle/>
          <a:p>
            <a:pPr algn="ctr"/>
            <a:r>
              <a:rPr sz="2400" b="1" dirty="0">
                <a:solidFill>
                  <a:srgbClr val="0E4F79"/>
                </a:solidFill>
              </a:rPr>
              <a:t>2</a:t>
            </a:r>
          </a:p>
          <a:p>
            <a:pPr algn="ctr"/>
            <a:r>
              <a:rPr sz="900" dirty="0">
                <a:solidFill>
                  <a:srgbClr val="495469"/>
                </a:solidFill>
              </a:rPr>
              <a:t>Kern-Alerts: </a:t>
            </a:r>
            <a:r>
              <a:rPr sz="900" dirty="0" err="1">
                <a:solidFill>
                  <a:srgbClr val="495469"/>
                </a:solidFill>
              </a:rPr>
              <a:t>Replikate</a:t>
            </a:r>
            <a:r>
              <a:rPr sz="900" dirty="0">
                <a:solidFill>
                  <a:srgbClr val="495469"/>
                </a:solidFill>
              </a:rPr>
              <a:t> &amp; Restarts</a:t>
            </a:r>
          </a:p>
        </p:txBody>
      </p:sp>
      <p:sp>
        <p:nvSpPr>
          <p:cNvPr id="9" name="monitoring_title"/>
          <p:cNvSpPr txBox="1"/>
          <p:nvPr/>
        </p:nvSpPr>
        <p:spPr>
          <a:xfrm>
            <a:off x="658368" y="2103120"/>
            <a:ext cx="3749039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 lnSpcReduction="10000"/>
          </a:bodyPr>
          <a:lstStyle/>
          <a:p>
            <a:pPr algn="l"/>
            <a:r>
              <a:rPr sz="1700" b="1" i="0">
                <a:solidFill>
                  <a:srgbClr val="0E4F79"/>
                </a:solidFill>
              </a:rPr>
              <a:t>Monitoring-Kette</a:t>
            </a:r>
          </a:p>
        </p:txBody>
      </p:sp>
      <p:sp>
        <p:nvSpPr>
          <p:cNvPr id="10" name="chain_0"/>
          <p:cNvSpPr/>
          <p:nvPr/>
        </p:nvSpPr>
        <p:spPr>
          <a:xfrm>
            <a:off x="713232" y="2615184"/>
            <a:ext cx="1572768" cy="694944"/>
          </a:xfrm>
          <a:prstGeom prst="roundRect">
            <a:avLst/>
          </a:prstGeom>
          <a:solidFill>
            <a:srgbClr val="E8F3FB"/>
          </a:solidFill>
          <a:ln w="13970">
            <a:solidFill>
              <a:srgbClr val="256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0E4F79"/>
                </a:solidFill>
              </a:rPr>
              <a:t>Prometheus
Metriken</a:t>
            </a:r>
          </a:p>
          <a:p>
            <a:pPr algn="ctr"/>
            <a:r>
              <a:rPr sz="840">
                <a:solidFill>
                  <a:srgbClr val="172438"/>
                </a:solidFill>
              </a:rPr>
              <a:t>sammelt CPU/RAM,
Restarts, PVC, HPA</a:t>
            </a:r>
          </a:p>
        </p:txBody>
      </p:sp>
      <p:sp>
        <p:nvSpPr>
          <p:cNvPr id="11" name="chain_1"/>
          <p:cNvSpPr/>
          <p:nvPr/>
        </p:nvSpPr>
        <p:spPr>
          <a:xfrm>
            <a:off x="2670048" y="2615184"/>
            <a:ext cx="1572768" cy="694944"/>
          </a:xfrm>
          <a:prstGeom prst="roundRect">
            <a:avLst/>
          </a:prstGeom>
          <a:solidFill>
            <a:srgbClr val="FFF5E1"/>
          </a:solidFill>
          <a:ln w="13970">
            <a:solidFill>
              <a:srgbClr val="BE7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BE7119"/>
                </a:solidFill>
              </a:rPr>
              <a:t>Alert-Regel</a:t>
            </a:r>
          </a:p>
          <a:p>
            <a:pPr algn="ctr"/>
            <a:r>
              <a:rPr sz="840">
                <a:solidFill>
                  <a:srgbClr val="172438"/>
                </a:solidFill>
              </a:rPr>
              <a:t>wann wird
gewarnt?</a:t>
            </a:r>
          </a:p>
        </p:txBody>
      </p:sp>
      <p:sp>
        <p:nvSpPr>
          <p:cNvPr id="12" name="chain_2"/>
          <p:cNvSpPr/>
          <p:nvPr/>
        </p:nvSpPr>
        <p:spPr>
          <a:xfrm>
            <a:off x="4626864" y="2615184"/>
            <a:ext cx="1572768" cy="694944"/>
          </a:xfrm>
          <a:prstGeom prst="roundRect">
            <a:avLst/>
          </a:prstGeom>
          <a:solidFill>
            <a:srgbClr val="FFF5E1"/>
          </a:solidFill>
          <a:ln w="13970">
            <a:solidFill>
              <a:srgbClr val="BE7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BE7119"/>
                </a:solidFill>
              </a:rPr>
              <a:t>Alertmanager</a:t>
            </a:r>
          </a:p>
          <a:p>
            <a:pPr algn="ctr"/>
            <a:r>
              <a:rPr sz="840">
                <a:solidFill>
                  <a:srgbClr val="172438"/>
                </a:solidFill>
              </a:rPr>
              <a:t>bündelt/routet
Alerts</a:t>
            </a:r>
          </a:p>
        </p:txBody>
      </p:sp>
      <p:sp>
        <p:nvSpPr>
          <p:cNvPr id="13" name="chain_3"/>
          <p:cNvSpPr/>
          <p:nvPr/>
        </p:nvSpPr>
        <p:spPr>
          <a:xfrm>
            <a:off x="6583680" y="2615184"/>
            <a:ext cx="1572768" cy="694944"/>
          </a:xfrm>
          <a:prstGeom prst="roundRect">
            <a:avLst/>
          </a:prstGeom>
          <a:solidFill>
            <a:srgbClr val="E8F3FB"/>
          </a:solidFill>
          <a:ln w="13970">
            <a:solidFill>
              <a:srgbClr val="256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0E4F79"/>
                </a:solidFill>
              </a:rPr>
              <a:t>Grafana
Dashboard</a:t>
            </a:r>
          </a:p>
          <a:p>
            <a:pPr algn="ctr"/>
            <a:r>
              <a:rPr sz="840">
                <a:solidFill>
                  <a:srgbClr val="172438"/>
                </a:solidFill>
              </a:rPr>
              <a:t>visualisiert
Auffälligkeiten</a:t>
            </a:r>
          </a:p>
        </p:txBody>
      </p:sp>
      <p:sp>
        <p:nvSpPr>
          <p:cNvPr id="14" name="chain_4"/>
          <p:cNvSpPr/>
          <p:nvPr/>
        </p:nvSpPr>
        <p:spPr>
          <a:xfrm>
            <a:off x="8540496" y="2615184"/>
            <a:ext cx="1572768" cy="694944"/>
          </a:xfrm>
          <a:prstGeom prst="roundRect">
            <a:avLst/>
          </a:prstGeom>
          <a:solidFill>
            <a:srgbClr val="F6F8FA"/>
          </a:solidFill>
          <a:ln w="13970"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109728" bIns="64008" rtlCol="0" anchor="ctr"/>
          <a:lstStyle/>
          <a:p>
            <a:pPr algn="ctr"/>
            <a:r>
              <a:rPr sz="1200" b="1">
                <a:solidFill>
                  <a:srgbClr val="0E4F79"/>
                </a:solidFill>
              </a:rPr>
              <a:t>kubectl
Diagnose</a:t>
            </a:r>
          </a:p>
          <a:p>
            <a:pPr algn="ctr"/>
            <a:r>
              <a:rPr sz="840">
                <a:solidFill>
                  <a:srgbClr val="172438"/>
                </a:solidFill>
              </a:rPr>
              <a:t>Status, Events,
Logs prüfen</a:t>
            </a:r>
          </a:p>
        </p:txBody>
      </p:sp>
      <p:cxnSp>
        <p:nvCxnSpPr>
          <p:cNvPr id="15" name="arrow_0"/>
          <p:cNvCxnSpPr/>
          <p:nvPr/>
        </p:nvCxnSpPr>
        <p:spPr>
          <a:xfrm>
            <a:off x="2322576" y="2962656"/>
            <a:ext cx="310896" cy="0"/>
          </a:xfrm>
          <a:prstGeom prst="line">
            <a:avLst/>
          </a:prstGeom>
          <a:ln w="19050">
            <a:solidFill>
              <a:srgbClr val="0E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rrow_1"/>
          <p:cNvCxnSpPr/>
          <p:nvPr/>
        </p:nvCxnSpPr>
        <p:spPr>
          <a:xfrm>
            <a:off x="4279392" y="2962656"/>
            <a:ext cx="310896" cy="0"/>
          </a:xfrm>
          <a:prstGeom prst="line">
            <a:avLst/>
          </a:prstGeom>
          <a:ln w="19050">
            <a:solidFill>
              <a:srgbClr val="0E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arrow_2"/>
          <p:cNvCxnSpPr/>
          <p:nvPr/>
        </p:nvCxnSpPr>
        <p:spPr>
          <a:xfrm>
            <a:off x="6236207" y="2962656"/>
            <a:ext cx="310897" cy="0"/>
          </a:xfrm>
          <a:prstGeom prst="line">
            <a:avLst/>
          </a:prstGeom>
          <a:ln w="19050">
            <a:solidFill>
              <a:srgbClr val="0E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arrow_3"/>
          <p:cNvCxnSpPr/>
          <p:nvPr/>
        </p:nvCxnSpPr>
        <p:spPr>
          <a:xfrm>
            <a:off x="8193023" y="2962656"/>
            <a:ext cx="310897" cy="0"/>
          </a:xfrm>
          <a:prstGeom prst="line">
            <a:avLst/>
          </a:prstGeom>
          <a:ln w="19050">
            <a:solidFill>
              <a:srgbClr val="0E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st_box"/>
          <p:cNvSpPr/>
          <p:nvPr/>
        </p:nvSpPr>
        <p:spPr>
          <a:xfrm>
            <a:off x="566928" y="3721608"/>
            <a:ext cx="3675888" cy="1463040"/>
          </a:xfrm>
          <a:prstGeom prst="roundRect">
            <a:avLst/>
          </a:prstGeom>
          <a:solidFill>
            <a:srgbClr val="E8F3FB"/>
          </a:solidFill>
          <a:ln w="13970">
            <a:solidFill>
              <a:srgbClr val="256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300" b="1" dirty="0" err="1">
                <a:solidFill>
                  <a:srgbClr val="0E4F79"/>
                </a:solidFill>
              </a:rPr>
              <a:t>Testfälle</a:t>
            </a:r>
            <a:r>
              <a:rPr sz="1300" b="1" dirty="0">
                <a:solidFill>
                  <a:srgbClr val="0E4F79"/>
                </a:solidFill>
              </a:rPr>
              <a:t> </a:t>
            </a:r>
            <a:r>
              <a:rPr sz="1300" b="1" dirty="0" err="1">
                <a:solidFill>
                  <a:srgbClr val="0E4F79"/>
                </a:solidFill>
              </a:rPr>
              <a:t>als</a:t>
            </a:r>
            <a:r>
              <a:rPr sz="1300" b="1" dirty="0">
                <a:solidFill>
                  <a:srgbClr val="0E4F79"/>
                </a:solidFill>
              </a:rPr>
              <a:t> </a:t>
            </a:r>
            <a:r>
              <a:rPr sz="1300" b="1" dirty="0" err="1">
                <a:solidFill>
                  <a:srgbClr val="0E4F79"/>
                </a:solidFill>
              </a:rPr>
              <a:t>Nachweis</a:t>
            </a:r>
            <a:endParaRPr sz="1300" b="1" dirty="0">
              <a:solidFill>
                <a:srgbClr val="0E4F79"/>
              </a:solidFill>
            </a:endParaRPr>
          </a:p>
          <a:p>
            <a:r>
              <a:rPr sz="880" dirty="0">
                <a:solidFill>
                  <a:srgbClr val="172438"/>
                </a:solidFill>
              </a:rPr>
              <a:t>• </a:t>
            </a:r>
            <a:r>
              <a:rPr lang="de-DE" sz="880" dirty="0">
                <a:solidFill>
                  <a:srgbClr val="172438"/>
                </a:solidFill>
              </a:rPr>
              <a:t>System- &amp; Integrationstests (T01–T30)</a:t>
            </a:r>
            <a:r>
              <a:rPr sz="880" dirty="0">
                <a:solidFill>
                  <a:srgbClr val="172438"/>
                </a:solidFill>
              </a:rPr>
              <a:t>: </a:t>
            </a:r>
            <a:r>
              <a:rPr lang="de-DE" sz="880" dirty="0">
                <a:solidFill>
                  <a:srgbClr val="172438"/>
                </a:solidFill>
              </a:rPr>
              <a:t>positive und negative </a:t>
            </a:r>
            <a:r>
              <a:rPr sz="880" dirty="0">
                <a:solidFill>
                  <a:srgbClr val="172438"/>
                </a:solidFill>
              </a:rPr>
              <a:t>Tests</a:t>
            </a:r>
          </a:p>
          <a:p>
            <a:r>
              <a:rPr sz="880" dirty="0">
                <a:solidFill>
                  <a:srgbClr val="172438"/>
                </a:solidFill>
              </a:rPr>
              <a:t>• D01–D15: DevOps-</a:t>
            </a:r>
            <a:r>
              <a:rPr sz="880" dirty="0" err="1">
                <a:solidFill>
                  <a:srgbClr val="172438"/>
                </a:solidFill>
              </a:rPr>
              <a:t>Szenarien</a:t>
            </a:r>
            <a:endParaRPr sz="880" dirty="0">
              <a:solidFill>
                <a:srgbClr val="172438"/>
              </a:solidFill>
            </a:endParaRPr>
          </a:p>
          <a:p>
            <a:r>
              <a:rPr sz="880" dirty="0">
                <a:solidFill>
                  <a:srgbClr val="172438"/>
                </a:solidFill>
              </a:rPr>
              <a:t>• F01–F08: </a:t>
            </a:r>
            <a:r>
              <a:rPr sz="880" dirty="0" err="1">
                <a:solidFill>
                  <a:srgbClr val="172438"/>
                </a:solidFill>
              </a:rPr>
              <a:t>Fehleranalyse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mit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Nachtest</a:t>
            </a:r>
            <a:endParaRPr sz="880" dirty="0">
              <a:solidFill>
                <a:srgbClr val="172438"/>
              </a:solidFill>
            </a:endParaRPr>
          </a:p>
          <a:p>
            <a:r>
              <a:rPr sz="880" dirty="0">
                <a:solidFill>
                  <a:srgbClr val="172438"/>
                </a:solidFill>
              </a:rPr>
              <a:t>• </a:t>
            </a:r>
            <a:r>
              <a:rPr sz="880" dirty="0" err="1">
                <a:solidFill>
                  <a:srgbClr val="172438"/>
                </a:solidFill>
              </a:rPr>
              <a:t>Beispiele</a:t>
            </a:r>
            <a:r>
              <a:rPr sz="880" dirty="0">
                <a:solidFill>
                  <a:srgbClr val="172438"/>
                </a:solidFill>
              </a:rPr>
              <a:t>: HTTP 200, 404/502, Drift, Rollback, Backup/Restore</a:t>
            </a:r>
          </a:p>
        </p:txBody>
      </p:sp>
      <p:sp>
        <p:nvSpPr>
          <p:cNvPr id="20" name="alert_box"/>
          <p:cNvSpPr/>
          <p:nvPr/>
        </p:nvSpPr>
        <p:spPr>
          <a:xfrm>
            <a:off x="4352544" y="3721608"/>
            <a:ext cx="3511296" cy="1463040"/>
          </a:xfrm>
          <a:prstGeom prst="roundRect">
            <a:avLst/>
          </a:prstGeom>
          <a:solidFill>
            <a:srgbClr val="FFF5E1"/>
          </a:solidFill>
          <a:ln w="13970">
            <a:solidFill>
              <a:srgbClr val="BE7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300" b="1" dirty="0">
                <a:solidFill>
                  <a:srgbClr val="BE7119"/>
                </a:solidFill>
              </a:rPr>
              <a:t>Alert-Regel &amp; </a:t>
            </a:r>
            <a:r>
              <a:rPr sz="1300" b="1" dirty="0" err="1">
                <a:solidFill>
                  <a:srgbClr val="BE7119"/>
                </a:solidFill>
              </a:rPr>
              <a:t>Alertmanager</a:t>
            </a:r>
            <a:endParaRPr sz="1300" b="1" dirty="0">
              <a:solidFill>
                <a:srgbClr val="BE7119"/>
              </a:solidFill>
            </a:endParaRPr>
          </a:p>
          <a:p>
            <a:r>
              <a:rPr sz="880" dirty="0">
                <a:solidFill>
                  <a:srgbClr val="172438"/>
                </a:solidFill>
              </a:rPr>
              <a:t>• Alert-Regel: </a:t>
            </a:r>
            <a:r>
              <a:rPr sz="880" dirty="0" err="1">
                <a:solidFill>
                  <a:srgbClr val="172438"/>
                </a:solidFill>
              </a:rPr>
              <a:t>Bedingung</a:t>
            </a:r>
            <a:r>
              <a:rPr sz="880" dirty="0">
                <a:solidFill>
                  <a:srgbClr val="172438"/>
                </a:solidFill>
              </a:rPr>
              <a:t>, </a:t>
            </a:r>
            <a:r>
              <a:rPr sz="880" dirty="0" err="1">
                <a:solidFill>
                  <a:srgbClr val="172438"/>
                </a:solidFill>
              </a:rPr>
              <a:t>wann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ein</a:t>
            </a:r>
            <a:r>
              <a:rPr sz="880" dirty="0">
                <a:solidFill>
                  <a:srgbClr val="172438"/>
                </a:solidFill>
              </a:rPr>
              <a:t> Alert </a:t>
            </a:r>
            <a:r>
              <a:rPr sz="880" dirty="0" err="1">
                <a:solidFill>
                  <a:srgbClr val="172438"/>
                </a:solidFill>
              </a:rPr>
              <a:t>ausgelöst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wird</a:t>
            </a:r>
            <a:r>
              <a:rPr sz="880" dirty="0">
                <a:solidFill>
                  <a:srgbClr val="172438"/>
                </a:solidFill>
              </a:rPr>
              <a:t>.</a:t>
            </a:r>
          </a:p>
          <a:p>
            <a:r>
              <a:rPr sz="880" dirty="0">
                <a:solidFill>
                  <a:srgbClr val="172438"/>
                </a:solidFill>
              </a:rPr>
              <a:t>• Prometheus </a:t>
            </a:r>
            <a:r>
              <a:rPr sz="880" dirty="0" err="1">
                <a:solidFill>
                  <a:srgbClr val="172438"/>
                </a:solidFill>
              </a:rPr>
              <a:t>bewertet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Regeln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anhand</a:t>
            </a:r>
            <a:r>
              <a:rPr sz="880" dirty="0">
                <a:solidFill>
                  <a:srgbClr val="172438"/>
                </a:solidFill>
              </a:rPr>
              <a:t> der </a:t>
            </a:r>
            <a:r>
              <a:rPr sz="880" dirty="0" err="1">
                <a:solidFill>
                  <a:srgbClr val="172438"/>
                </a:solidFill>
              </a:rPr>
              <a:t>Metriken</a:t>
            </a:r>
            <a:r>
              <a:rPr sz="880" dirty="0">
                <a:solidFill>
                  <a:srgbClr val="172438"/>
                </a:solidFill>
              </a:rPr>
              <a:t>.</a:t>
            </a:r>
          </a:p>
          <a:p>
            <a:r>
              <a:rPr sz="880" dirty="0">
                <a:solidFill>
                  <a:srgbClr val="172438"/>
                </a:solidFill>
              </a:rPr>
              <a:t>• </a:t>
            </a:r>
            <a:r>
              <a:rPr sz="880" dirty="0" err="1">
                <a:solidFill>
                  <a:srgbClr val="172438"/>
                </a:solidFill>
              </a:rPr>
              <a:t>Alertmanager</a:t>
            </a:r>
            <a:r>
              <a:rPr sz="880" dirty="0">
                <a:solidFill>
                  <a:srgbClr val="172438"/>
                </a:solidFill>
              </a:rPr>
              <a:t> </a:t>
            </a:r>
            <a:r>
              <a:rPr sz="880" dirty="0" err="1">
                <a:solidFill>
                  <a:srgbClr val="172438"/>
                </a:solidFill>
              </a:rPr>
              <a:t>gruppiert</a:t>
            </a:r>
            <a:r>
              <a:rPr sz="880" dirty="0">
                <a:solidFill>
                  <a:srgbClr val="172438"/>
                </a:solidFill>
              </a:rPr>
              <a:t>, </a:t>
            </a:r>
            <a:r>
              <a:rPr sz="880" dirty="0" err="1">
                <a:solidFill>
                  <a:srgbClr val="172438"/>
                </a:solidFill>
              </a:rPr>
              <a:t>routet</a:t>
            </a:r>
            <a:r>
              <a:rPr sz="880" dirty="0">
                <a:solidFill>
                  <a:srgbClr val="172438"/>
                </a:solidFill>
              </a:rPr>
              <a:t> und </a:t>
            </a:r>
            <a:r>
              <a:rPr sz="880" dirty="0" err="1">
                <a:solidFill>
                  <a:srgbClr val="172438"/>
                </a:solidFill>
              </a:rPr>
              <a:t>verwaltet</a:t>
            </a:r>
            <a:r>
              <a:rPr sz="880" dirty="0">
                <a:solidFill>
                  <a:srgbClr val="172438"/>
                </a:solidFill>
              </a:rPr>
              <a:t> Alerts.</a:t>
            </a:r>
          </a:p>
        </p:txBody>
      </p:sp>
      <p:sp>
        <p:nvSpPr>
          <p:cNvPr id="21" name="diag_box"/>
          <p:cNvSpPr/>
          <p:nvPr/>
        </p:nvSpPr>
        <p:spPr>
          <a:xfrm>
            <a:off x="8119872" y="3721608"/>
            <a:ext cx="3511296" cy="1463040"/>
          </a:xfrm>
          <a:prstGeom prst="roundRect">
            <a:avLst/>
          </a:prstGeom>
          <a:solidFill>
            <a:srgbClr val="E8F6EC"/>
          </a:solidFill>
          <a:ln w="13970">
            <a:solidFill>
              <a:srgbClr val="2A8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73152" rtlCol="0" anchor="ctr"/>
          <a:lstStyle/>
          <a:p>
            <a:pPr algn="ctr"/>
            <a:r>
              <a:rPr sz="1300" b="1">
                <a:solidFill>
                  <a:srgbClr val="2A874A"/>
                </a:solidFill>
              </a:rPr>
              <a:t>Diagnoseprinzip</a:t>
            </a:r>
          </a:p>
          <a:p>
            <a:r>
              <a:rPr sz="880">
                <a:solidFill>
                  <a:srgbClr val="172438"/>
                </a:solidFill>
              </a:rPr>
              <a:t>• Grafana zeigt Symptome, nicht automatisch die Ursache.</a:t>
            </a:r>
          </a:p>
          <a:p>
            <a:r>
              <a:rPr sz="880">
                <a:solidFill>
                  <a:srgbClr val="172438"/>
                </a:solidFill>
              </a:rPr>
              <a:t>• Bei Alert: Pod-Status, Events und Logs prüfen.</a:t>
            </a:r>
          </a:p>
          <a:p>
            <a:r>
              <a:rPr sz="880">
                <a:solidFill>
                  <a:srgbClr val="172438"/>
                </a:solidFill>
              </a:rPr>
              <a:t>• Nach Behebung muss ein Nachtest erfolgreich sein.</a:t>
            </a:r>
          </a:p>
        </p:txBody>
      </p:sp>
      <p:sp>
        <p:nvSpPr>
          <p:cNvPr id="22" name="original_bullets"/>
          <p:cNvSpPr txBox="1"/>
          <p:nvPr/>
        </p:nvSpPr>
        <p:spPr>
          <a:xfrm>
            <a:off x="658368" y="5276088"/>
            <a:ext cx="108813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/>
            <a:r>
              <a:rPr sz="930" b="0" i="0" dirty="0">
                <a:solidFill>
                  <a:srgbClr val="172438"/>
                </a:solidFill>
              </a:rPr>
              <a:t>Prometheus </a:t>
            </a:r>
            <a:r>
              <a:rPr sz="930" b="0" i="0" dirty="0" err="1">
                <a:solidFill>
                  <a:srgbClr val="172438"/>
                </a:solidFill>
              </a:rPr>
              <a:t>sammelt</a:t>
            </a:r>
            <a:r>
              <a:rPr sz="930" b="0" i="0" dirty="0">
                <a:solidFill>
                  <a:srgbClr val="172438"/>
                </a:solidFill>
              </a:rPr>
              <a:t> Kubernetes-</a:t>
            </a:r>
            <a:r>
              <a:rPr sz="930" b="0" i="0" dirty="0" err="1">
                <a:solidFill>
                  <a:srgbClr val="172438"/>
                </a:solidFill>
              </a:rPr>
              <a:t>Metriken</a:t>
            </a:r>
            <a:r>
              <a:rPr sz="930" b="0" i="0" dirty="0">
                <a:solidFill>
                  <a:srgbClr val="172438"/>
                </a:solidFill>
              </a:rPr>
              <a:t> </a:t>
            </a:r>
            <a:r>
              <a:rPr sz="930" b="0" i="0" dirty="0" err="1">
                <a:solidFill>
                  <a:srgbClr val="172438"/>
                </a:solidFill>
              </a:rPr>
              <a:t>wie</a:t>
            </a:r>
            <a:r>
              <a:rPr sz="930" b="0" i="0" dirty="0">
                <a:solidFill>
                  <a:srgbClr val="172438"/>
                </a:solidFill>
              </a:rPr>
              <a:t> CPU, RAM, Restarts, </a:t>
            </a:r>
            <a:r>
              <a:rPr sz="930" b="0" i="0" dirty="0" err="1">
                <a:solidFill>
                  <a:srgbClr val="172438"/>
                </a:solidFill>
              </a:rPr>
              <a:t>Replikate</a:t>
            </a:r>
            <a:r>
              <a:rPr sz="930" b="0" i="0" dirty="0">
                <a:solidFill>
                  <a:srgbClr val="172438"/>
                </a:solidFill>
              </a:rPr>
              <a:t>, PVC und HPA. Grafana </a:t>
            </a:r>
            <a:r>
              <a:rPr sz="930" b="0" i="0" dirty="0" err="1">
                <a:solidFill>
                  <a:srgbClr val="172438"/>
                </a:solidFill>
              </a:rPr>
              <a:t>visualisiert</a:t>
            </a:r>
            <a:r>
              <a:rPr sz="930" b="0" i="0" dirty="0">
                <a:solidFill>
                  <a:srgbClr val="172438"/>
                </a:solidFill>
              </a:rPr>
              <a:t> </a:t>
            </a:r>
            <a:r>
              <a:rPr sz="930" b="0" i="0" dirty="0" err="1">
                <a:solidFill>
                  <a:srgbClr val="172438"/>
                </a:solidFill>
              </a:rPr>
              <a:t>Verlauf</a:t>
            </a:r>
            <a:r>
              <a:rPr sz="930" b="0" i="0" dirty="0">
                <a:solidFill>
                  <a:srgbClr val="172438"/>
                </a:solidFill>
              </a:rPr>
              <a:t> und </a:t>
            </a:r>
            <a:r>
              <a:rPr sz="930" b="0" i="0" dirty="0" err="1">
                <a:solidFill>
                  <a:srgbClr val="172438"/>
                </a:solidFill>
              </a:rPr>
              <a:t>Auffälligkeiten</a:t>
            </a:r>
            <a:r>
              <a:rPr sz="930" b="0" i="0" dirty="0">
                <a:solidFill>
                  <a:srgbClr val="172438"/>
                </a:solidFill>
              </a:rPr>
              <a:t>.</a:t>
            </a:r>
          </a:p>
        </p:txBody>
      </p:sp>
      <p:sp>
        <p:nvSpPr>
          <p:cNvPr id="23" name="key_msg"/>
          <p:cNvSpPr/>
          <p:nvPr/>
        </p:nvSpPr>
        <p:spPr>
          <a:xfrm>
            <a:off x="566928" y="5715000"/>
            <a:ext cx="11045952" cy="475488"/>
          </a:xfrm>
          <a:prstGeom prst="roundRect">
            <a:avLst/>
          </a:prstGeom>
          <a:solidFill>
            <a:srgbClr val="EBF4FD"/>
          </a:solidFill>
          <a:ln w="13970">
            <a:solidFill>
              <a:srgbClr val="256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sz="1150" b="1">
                <a:solidFill>
                  <a:srgbClr val="0E4F79"/>
                </a:solidFill>
              </a:rPr>
              <a:t>Kernaussage: </a:t>
            </a:r>
            <a:r>
              <a:rPr sz="1150">
                <a:solidFill>
                  <a:srgbClr val="172438"/>
                </a:solidFill>
              </a:rPr>
              <a:t>Monitoring erkennt Auffälligkeiten – Ursache wird mit Status, Events, Logs und Nachtest belegt.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384048" y="6519672"/>
            <a:ext cx="1133856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>
            <a:lvl1pPr>
              <a:defRPr sz="750">
                <a:solidFill>
                  <a:srgbClr val="141414"/>
                </a:solidFill>
                <a:latin typeface="Aptos"/>
              </a:defRPr>
            </a:lvl1pPr>
          </a:lstStyle>
          <a:p>
            <a:r>
              <a:rPr dirty="0"/>
              <a:t>Ibrahim Sangaré | Pacman DevOps-/</a:t>
            </a:r>
            <a:r>
              <a:rPr dirty="0" err="1"/>
              <a:t>GitOps-Abschlussprojekt</a:t>
            </a:r>
            <a:r>
              <a:rPr dirty="0"/>
              <a:t> | Folie </a:t>
            </a:r>
            <a:r>
              <a:rPr lang="de-DE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0C5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Betrieb: Grafana-Metriken Dev / 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C5B89"/>
                </a:solidFill>
              </a:defRPr>
            </a:pPr>
            <a:r>
              <a:t>Plausibilisierung von Zustand, Ressourcenverbrauch und Verfügbarkeit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932688"/>
            <a:ext cx="11137392" cy="22860"/>
          </a:xfrm>
          <a:prstGeom prst="rect">
            <a:avLst/>
          </a:prstGeom>
          <a:solidFill>
            <a:srgbClr val="17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C5B89"/>
                </a:solidFill>
              </a:defRPr>
            </a:pPr>
            <a:r>
              <a:t>Grafana-Dashboard (aktueller 1-h-Zeitraum)</a:t>
            </a:r>
          </a:p>
        </p:txBody>
      </p:sp>
      <p:pic>
        <p:nvPicPr>
          <p:cNvPr id="6" name="Picture 5" descr="grafana_aktuel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3312"/>
            <a:ext cx="5897880" cy="2944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56832" y="1097280"/>
            <a:ext cx="4983480" cy="3383280"/>
          </a:xfrm>
          <a:prstGeom prst="roundRect">
            <a:avLst/>
          </a:prstGeom>
          <a:solidFill>
            <a:srgbClr val="F5FAFE"/>
          </a:solidFill>
          <a:ln w="19050">
            <a:solidFill>
              <a:srgbClr val="A4C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0" y="126187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C5B89"/>
                </a:solidFill>
              </a:defRPr>
            </a:pPr>
            <a:r>
              <a:t>Gelesene Werte aus Grafana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39712" y="1664208"/>
            <a:ext cx="452628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04304" y="1773936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5B89"/>
                </a:solidFill>
              </a:defRPr>
            </a:pPr>
            <a:r>
              <a:t>Replikate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2697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182A3D"/>
                </a:solidFill>
              </a:defRPr>
            </a:pPr>
            <a:r>
              <a:t>Dev: Soll 1 / Verfügbar 1</a:t>
            </a:r>
          </a:p>
          <a:p>
            <a:pPr>
              <a:defRPr sz="930">
                <a:solidFill>
                  <a:srgbClr val="182A3D"/>
                </a:solidFill>
              </a:defRPr>
            </a:pPr>
            <a:r>
              <a:t>Prod: Soll 3 / Verfügbar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9712" y="2331720"/>
            <a:ext cx="452628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4304" y="2441448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5B89"/>
                </a:solidFill>
              </a:defRPr>
            </a:pPr>
            <a:r>
              <a:t>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9712" y="2999232"/>
            <a:ext cx="452628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04304" y="3108960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5B89"/>
                </a:solidFill>
              </a:defRPr>
            </a:pPr>
            <a:r>
              <a:t>Laufende 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72384"/>
            <a:ext cx="2697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182A3D"/>
                </a:solidFill>
              </a:defRPr>
            </a:pPr>
            <a:r>
              <a:t>Dev: 1 laufender Pacman-Container</a:t>
            </a:r>
          </a:p>
          <a:p>
            <a:pPr>
              <a:defRPr sz="930">
                <a:solidFill>
                  <a:srgbClr val="182A3D"/>
                </a:solidFill>
              </a:defRPr>
            </a:pPr>
            <a:r>
              <a:t>Prod: 3 laufende Pacman-Container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3666744"/>
            <a:ext cx="4526280" cy="5760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A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04304" y="3776472"/>
            <a:ext cx="1234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5B89"/>
                </a:solidFill>
              </a:defRPr>
            </a:pPr>
            <a:r>
              <a:t>RAM zum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739896"/>
            <a:ext cx="2697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>
                <a:solidFill>
                  <a:srgbClr val="182A3D"/>
                </a:solidFill>
              </a:defRPr>
            </a:pPr>
            <a:r>
              <a:t>Dev: 22,7 %</a:t>
            </a:r>
          </a:p>
          <a:p>
            <a:pPr>
              <a:defRPr sz="930">
                <a:solidFill>
                  <a:srgbClr val="182A3D"/>
                </a:solidFill>
              </a:defRPr>
            </a:pPr>
            <a:r>
              <a:t>Prod: 16,4 %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1082528" cy="1124712"/>
          </a:xfrm>
          <a:prstGeom prst="roundRect">
            <a:avLst/>
          </a:prstGeom>
          <a:solidFill>
            <a:srgbClr val="EEF7FD"/>
          </a:solidFill>
          <a:ln w="17780">
            <a:solidFill>
              <a:srgbClr val="176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10328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C5B89"/>
                </a:solidFill>
              </a:defRPr>
            </a:pPr>
            <a:r>
              <a:t>Kernaussage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846320"/>
            <a:ext cx="9372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82A3D"/>
                </a:solidFill>
              </a:defRPr>
            </a:pPr>
            <a:r>
              <a:rPr dirty="0"/>
              <a:t>Dev und Prod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dargestellten</a:t>
            </a:r>
            <a:r>
              <a:rPr dirty="0"/>
              <a:t> </a:t>
            </a:r>
            <a:r>
              <a:rPr dirty="0" err="1"/>
              <a:t>Zeitraum</a:t>
            </a:r>
            <a:r>
              <a:rPr dirty="0"/>
              <a:t> </a:t>
            </a:r>
            <a:r>
              <a:rPr dirty="0" err="1"/>
              <a:t>verfügbar</a:t>
            </a:r>
            <a:r>
              <a:rPr dirty="0"/>
              <a:t>: Soll- und </a:t>
            </a:r>
            <a:r>
              <a:rPr dirty="0" err="1"/>
              <a:t>verfügbare</a:t>
            </a:r>
            <a:r>
              <a:rPr dirty="0"/>
              <a:t> </a:t>
            </a:r>
            <a:r>
              <a:rPr dirty="0" err="1"/>
              <a:t>Replikate</a:t>
            </a:r>
            <a:r>
              <a:rPr dirty="0"/>
              <a:t> </a:t>
            </a:r>
            <a:r>
              <a:rPr dirty="0" err="1"/>
              <a:t>stimmen</a:t>
            </a:r>
            <a:r>
              <a:rPr dirty="0"/>
              <a:t> </a:t>
            </a:r>
            <a:r>
              <a:rPr dirty="0" err="1"/>
              <a:t>überein</a:t>
            </a:r>
            <a:r>
              <a:rPr dirty="0"/>
              <a:t>. CPU und RAM </a:t>
            </a:r>
            <a:r>
              <a:rPr dirty="0" err="1"/>
              <a:t>zeigen</a:t>
            </a:r>
            <a:r>
              <a:rPr dirty="0"/>
              <a:t> den </a:t>
            </a:r>
            <a:r>
              <a:rPr dirty="0" err="1"/>
              <a:t>Ressourcenverbrauch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Umgebung</a:t>
            </a:r>
            <a:r>
              <a:rPr dirty="0"/>
              <a:t>; die RAM-</a:t>
            </a:r>
            <a:r>
              <a:rPr dirty="0" err="1"/>
              <a:t>Anzeige</a:t>
            </a:r>
            <a:r>
              <a:rPr dirty="0"/>
              <a:t> </a:t>
            </a:r>
            <a:r>
              <a:rPr dirty="0" err="1"/>
              <a:t>setzt</a:t>
            </a:r>
            <a:r>
              <a:rPr dirty="0"/>
              <a:t> den </a:t>
            </a:r>
            <a:r>
              <a:rPr dirty="0" err="1"/>
              <a:t>Verbrauch</a:t>
            </a:r>
            <a:r>
              <a:rPr dirty="0"/>
              <a:t> ins </a:t>
            </a:r>
            <a:r>
              <a:rPr dirty="0" err="1"/>
              <a:t>Verhältnis</a:t>
            </a:r>
            <a:r>
              <a:rPr dirty="0"/>
              <a:t>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konfigurierten</a:t>
            </a:r>
            <a:r>
              <a:rPr dirty="0"/>
              <a:t> Memory-Limit.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64465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>
            <a:lvl1pPr>
              <a:defRPr sz="850" b="0" i="0">
                <a:solidFill>
                  <a:srgbClr val="464646"/>
                </a:solidFill>
              </a:defRPr>
            </a:lvl1pPr>
          </a:lstStyle>
          <a:p>
            <a:r>
              <a:rPr dirty="0"/>
              <a:t>Ibrahim Sangaré | Pacman DevOps-/</a:t>
            </a:r>
            <a:r>
              <a:rPr dirty="0" err="1"/>
              <a:t>GitOps-Abschlussprojekt</a:t>
            </a:r>
            <a:r>
              <a:rPr dirty="0"/>
              <a:t> | Grafana-</a:t>
            </a:r>
            <a:r>
              <a:rPr dirty="0" err="1"/>
              <a:t>Metriken</a:t>
            </a:r>
            <a:r>
              <a:rPr lang="de-DE" dirty="0"/>
              <a:t> | Folie 10</a:t>
            </a:r>
            <a:endParaRPr dirty="0"/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0BACED7-4E11-3D0D-DD6C-B9CD12A8E928}"/>
              </a:ext>
            </a:extLst>
          </p:cNvPr>
          <p:cNvSpPr txBox="1"/>
          <p:nvPr/>
        </p:nvSpPr>
        <p:spPr>
          <a:xfrm>
            <a:off x="8512122" y="2404872"/>
            <a:ext cx="29718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10" b="0" i="0" dirty="0">
                <a:solidFill>
                  <a:srgbClr val="142337"/>
                </a:solidFill>
                <a:latin typeface="Aptos"/>
              </a:rPr>
              <a:t>Peak Dev ≈ 0,016 Core = 16 </a:t>
            </a:r>
            <a:r>
              <a:rPr sz="910" b="0" i="0" dirty="0" err="1">
                <a:solidFill>
                  <a:srgbClr val="142337"/>
                </a:solidFill>
                <a:latin typeface="Aptos"/>
              </a:rPr>
              <a:t>mCPU</a:t>
            </a:r>
            <a:r>
              <a:rPr sz="910" b="0" i="0" dirty="0">
                <a:solidFill>
                  <a:srgbClr val="142337"/>
                </a:solidFill>
                <a:latin typeface="Aptos"/>
              </a:rPr>
              <a:t>
Peak Prod ≈ 0,048 Core = 48 </a:t>
            </a:r>
            <a:r>
              <a:rPr sz="910" b="0" i="0" dirty="0" err="1">
                <a:solidFill>
                  <a:srgbClr val="142337"/>
                </a:solidFill>
                <a:latin typeface="Aptos"/>
              </a:rPr>
              <a:t>mCPU</a:t>
            </a:r>
            <a:endParaRPr sz="910" b="0" i="0" dirty="0">
              <a:solidFill>
                <a:srgbClr val="14233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044bd2c-a57e-4062-97e4-51ae8c0a99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7733" y="5480778"/>
            <a:ext cx="11657957" cy="10774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2608" y="5483301"/>
            <a:ext cx="115671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5760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14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45380"/>
                </a:solidFill>
              </a:defRPr>
            </a:pPr>
            <a:r>
              <a:rPr dirty="0"/>
              <a:t>1 </a:t>
            </a:r>
            <a:r>
              <a:rPr dirty="0" err="1"/>
              <a:t>Ausgangszustand</a:t>
            </a:r>
            <a:endParaRPr dirty="0"/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rPr dirty="0"/>
              <a:t>IHK-RESTORE-UI-001 / 1900</a:t>
            </a:r>
            <a:br>
              <a:rPr dirty="0"/>
            </a:br>
            <a:r>
              <a:rPr dirty="0" err="1"/>
              <a:t>Daten</a:t>
            </a:r>
            <a:r>
              <a:rPr dirty="0"/>
              <a:t>-SHA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0824" y="583077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538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04288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14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45380"/>
                </a:solidFill>
              </a:defRPr>
            </a:pPr>
            <a:r>
              <a:t>2 Backup</a:t>
            </a:r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t>mongodump</a:t>
            </a:r>
            <a:br/>
            <a:r>
              <a:t>Backup-SHA: 4fec6a6a…937718fb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583077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5380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D27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D27300"/>
                </a:solidFill>
              </a:defRPr>
            </a:pPr>
            <a:r>
              <a:t>3 Löschen</a:t>
            </a:r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t>deletedCount: 1</a:t>
            </a:r>
            <a:br/>
            <a:r>
              <a:t>Daten-SHA B ≠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79" y="583077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5380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14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45380"/>
                </a:solidFill>
              </a:defRPr>
            </a:pPr>
            <a:r>
              <a:t>4 Restore</a:t>
            </a:r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t>mongorestore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3077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5380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16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7D46"/>
                </a:solidFill>
              </a:defRPr>
            </a:pPr>
            <a:r>
              <a:rPr dirty="0"/>
              <a:t>5 </a:t>
            </a:r>
            <a:r>
              <a:rPr dirty="0" err="1"/>
              <a:t>Nachweis</a:t>
            </a:r>
            <a:endParaRPr dirty="0"/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rPr dirty="0"/>
              <a:t>IHK-RESTORE-UI-001 / 1900</a:t>
            </a:r>
            <a:br>
              <a:rPr dirty="0"/>
            </a:br>
            <a:r>
              <a:rPr dirty="0" err="1"/>
              <a:t>wieder</a:t>
            </a:r>
            <a:r>
              <a:rPr dirty="0"/>
              <a:t> </a:t>
            </a:r>
            <a:r>
              <a:rPr dirty="0" err="1"/>
              <a:t>vorhanden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774936" y="5830773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5380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5638749"/>
            <a:ext cx="1627632" cy="658368"/>
          </a:xfrm>
          <a:prstGeom prst="roundRect">
            <a:avLst/>
          </a:prstGeom>
          <a:solidFill>
            <a:srgbClr val="EEF7FD"/>
          </a:solidFill>
          <a:ln>
            <a:solidFill>
              <a:srgbClr val="16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67D46"/>
                </a:solidFill>
              </a:defRPr>
            </a:pPr>
            <a:r>
              <a:t>6 Vergleich</a:t>
            </a:r>
          </a:p>
          <a:p>
            <a:pPr algn="ctr">
              <a:defRPr sz="670">
                <a:solidFill>
                  <a:srgbClr val="232D37"/>
                </a:solidFill>
              </a:defRPr>
            </a:pPr>
            <a:r>
              <a:t>Daten-SHA nach Restore = A</a:t>
            </a:r>
            <a:br/>
            <a:r>
              <a:t>Soll: A = A ✓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E2FB6165-4D5A-02B6-3C8A-6DE8DC13C317}"/>
              </a:ext>
            </a:extLst>
          </p:cNvPr>
          <p:cNvSpPr txBox="1"/>
          <p:nvPr/>
        </p:nvSpPr>
        <p:spPr>
          <a:xfrm>
            <a:off x="457200" y="6537960"/>
            <a:ext cx="4285147" cy="2231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 fontScale="85000" lnSpcReduction="10000"/>
          </a:bodyPr>
          <a:lstStyle>
            <a:lvl1pPr>
              <a:defRPr sz="850" b="0" i="0">
                <a:solidFill>
                  <a:srgbClr val="464646"/>
                </a:solidFill>
              </a:defRPr>
            </a:lvl1pPr>
          </a:lstStyle>
          <a:p>
            <a:r>
              <a:rPr dirty="0"/>
              <a:t>Ibrahim Sangaré | Pacman DevOps-/</a:t>
            </a:r>
            <a:r>
              <a:rPr lang="de-DE" dirty="0"/>
              <a:t>MongoDB Backup &amp; Restore</a:t>
            </a:r>
            <a:r>
              <a:rPr dirty="0"/>
              <a:t> | </a:t>
            </a:r>
            <a:r>
              <a:rPr lang="de-DE" dirty="0"/>
              <a:t>Wiederherstellung nachweisen | Folie 11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10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09728"/>
            <a:ext cx="1674176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 err="1"/>
              <a:t>Nachweise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105282"/>
                </a:solidFill>
              </a:defRPr>
            </a:pPr>
            <a:r>
              <a:t>Aktualisierter Abschlussstand – umgesetzt, nachgewiesen und noch final zu dokumentieren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4983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8746"/>
                </a:solidFill>
              </a:defRPr>
            </a:pPr>
            <a:r>
              <a:t>Abgeschlossen / nachgewiesen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36192"/>
            <a:ext cx="5074920" cy="3520440"/>
          </a:xfrm>
          <a:prstGeom prst="roundRect">
            <a:avLst/>
          </a:prstGeom>
          <a:solidFill>
            <a:srgbClr val="F1F9F4"/>
          </a:solidFill>
          <a:ln>
            <a:solidFill>
              <a:srgbClr val="198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19072"/>
            <a:ext cx="46634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20" b="0">
                <a:solidFill>
                  <a:srgbClr val="232323"/>
                </a:solidFill>
              </a:defRPr>
            </a:pPr>
            <a:r>
              <a:rPr dirty="0"/>
              <a:t>✓  DevOps-</a:t>
            </a:r>
            <a:r>
              <a:rPr dirty="0" err="1"/>
              <a:t>Fälle</a:t>
            </a:r>
            <a:r>
              <a:rPr dirty="0"/>
              <a:t> D01–D15</a:t>
            </a:r>
          </a:p>
          <a:p>
            <a:pPr>
              <a:spcAft>
                <a:spcPts val="200"/>
              </a:spcAft>
              <a:defRPr sz="1320" b="0">
                <a:solidFill>
                  <a:srgbClr val="232323"/>
                </a:solidFill>
              </a:defRPr>
            </a:pPr>
            <a:r>
              <a:rPr dirty="0"/>
              <a:t>✓  Tests T01–T30 </a:t>
            </a:r>
            <a:r>
              <a:rPr dirty="0" err="1"/>
              <a:t>inklusive</a:t>
            </a:r>
            <a:r>
              <a:rPr dirty="0"/>
              <a:t> Prod-</a:t>
            </a:r>
            <a:r>
              <a:rPr dirty="0" err="1"/>
              <a:t>Abnahme</a:t>
            </a:r>
            <a:endParaRPr dirty="0"/>
          </a:p>
          <a:p>
            <a:pPr>
              <a:spcAft>
                <a:spcPts val="200"/>
              </a:spcAft>
              <a:defRPr sz="1320" b="0">
                <a:solidFill>
                  <a:srgbClr val="232323"/>
                </a:solidFill>
              </a:defRPr>
            </a:pPr>
            <a:r>
              <a:rPr dirty="0"/>
              <a:t>✓  </a:t>
            </a:r>
            <a:r>
              <a:rPr dirty="0" err="1"/>
              <a:t>Fehleranalyse</a:t>
            </a:r>
            <a:r>
              <a:rPr dirty="0"/>
              <a:t> F01–F08</a:t>
            </a:r>
          </a:p>
          <a:p>
            <a:pPr>
              <a:spcAft>
                <a:spcPts val="200"/>
              </a:spcAft>
              <a:defRPr sz="1320" b="0">
                <a:solidFill>
                  <a:srgbClr val="232323"/>
                </a:solidFill>
              </a:defRPr>
            </a:pPr>
            <a:r>
              <a:rPr dirty="0"/>
              <a:t>✓  Promotion und Rollback</a:t>
            </a:r>
          </a:p>
          <a:p>
            <a:pPr>
              <a:spcAft>
                <a:spcPts val="200"/>
              </a:spcAft>
              <a:defRPr sz="1320" b="0">
                <a:solidFill>
                  <a:srgbClr val="232323"/>
                </a:solidFill>
              </a:defRPr>
            </a:pPr>
            <a:r>
              <a:rPr dirty="0"/>
              <a:t>✓  Git-</a:t>
            </a:r>
            <a:r>
              <a:rPr dirty="0" err="1"/>
              <a:t>Nachweis</a:t>
            </a:r>
            <a:r>
              <a:rPr dirty="0"/>
              <a:t> und Secret-</a:t>
            </a:r>
            <a:r>
              <a:rPr dirty="0" err="1"/>
              <a:t>Mustercheck</a:t>
            </a:r>
            <a:endParaRPr dirty="0"/>
          </a:p>
          <a:p>
            <a:pPr>
              <a:spcAft>
                <a:spcPts val="200"/>
              </a:spcAft>
              <a:defRPr sz="1320" b="1">
                <a:solidFill>
                  <a:srgbClr val="232323"/>
                </a:solidFill>
              </a:defRPr>
            </a:pPr>
            <a:r>
              <a:rPr dirty="0"/>
              <a:t>✓  </a:t>
            </a:r>
            <a:r>
              <a:rPr dirty="0" err="1"/>
              <a:t>Vollständiger</a:t>
            </a:r>
            <a:r>
              <a:rPr dirty="0"/>
              <a:t> Restore-</a:t>
            </a:r>
            <a:r>
              <a:rPr dirty="0" err="1"/>
              <a:t>Endnachweis</a:t>
            </a:r>
            <a:endParaRPr dirty="0"/>
          </a:p>
          <a:p>
            <a:pPr>
              <a:spcAft>
                <a:spcPts val="500"/>
              </a:spcAft>
              <a:defRPr sz="1050">
                <a:solidFill>
                  <a:srgbClr val="5F5F5F"/>
                </a:solidFill>
              </a:defRPr>
            </a:pPr>
            <a:r>
              <a:rPr dirty="0"/>
              <a:t>     Backup → </a:t>
            </a:r>
            <a:r>
              <a:rPr dirty="0" err="1"/>
              <a:t>Löschung</a:t>
            </a:r>
            <a:r>
              <a:rPr dirty="0"/>
              <a:t> → Restore → UI-</a:t>
            </a:r>
            <a:r>
              <a:rPr dirty="0" err="1"/>
              <a:t>Nachtest</a:t>
            </a:r>
            <a:endParaRPr dirty="0"/>
          </a:p>
          <a:p>
            <a:pPr>
              <a:spcAft>
                <a:spcPts val="200"/>
              </a:spcAft>
              <a:defRPr sz="1320" b="1">
                <a:solidFill>
                  <a:srgbClr val="232323"/>
                </a:solidFill>
              </a:defRPr>
            </a:pPr>
            <a:r>
              <a:rPr dirty="0"/>
              <a:t>✓  </a:t>
            </a:r>
            <a:r>
              <a:rPr dirty="0" err="1"/>
              <a:t>Finaler</a:t>
            </a:r>
            <a:r>
              <a:rPr dirty="0"/>
              <a:t> </a:t>
            </a:r>
            <a:r>
              <a:rPr dirty="0" err="1"/>
              <a:t>Betriebs</a:t>
            </a:r>
            <a:r>
              <a:rPr dirty="0"/>
              <a:t>-/</a:t>
            </a:r>
            <a:r>
              <a:rPr dirty="0" err="1"/>
              <a:t>Übergabe</a:t>
            </a:r>
            <a:r>
              <a:rPr dirty="0"/>
              <a:t>-Snapshot</a:t>
            </a:r>
          </a:p>
          <a:p>
            <a:pPr>
              <a:spcAft>
                <a:spcPts val="500"/>
              </a:spcAft>
              <a:defRPr sz="1050">
                <a:solidFill>
                  <a:srgbClr val="5F5F5F"/>
                </a:solidFill>
              </a:defRPr>
            </a:pPr>
            <a:r>
              <a:rPr dirty="0"/>
              <a:t>     </a:t>
            </a:r>
            <a:r>
              <a:rPr dirty="0" err="1"/>
              <a:t>ohne</a:t>
            </a:r>
            <a:r>
              <a:rPr dirty="0"/>
              <a:t> Secret-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erstellt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144768" y="1097280"/>
            <a:ext cx="5394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8746"/>
                </a:solidFill>
              </a:defRPr>
            </a:pPr>
            <a:r>
              <a:t>Abgeschlossen / nachgewiesen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36192"/>
            <a:ext cx="5440680" cy="1481328"/>
          </a:xfrm>
          <a:prstGeom prst="roundRect">
            <a:avLst/>
          </a:prstGeom>
          <a:solidFill>
            <a:srgbClr val="F1F9F4"/>
          </a:solidFill>
          <a:ln>
            <a:solidFill>
              <a:srgbClr val="198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719072"/>
            <a:ext cx="495604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20" b="1">
                <a:solidFill>
                  <a:srgbClr val="232323"/>
                </a:solidFill>
              </a:defRPr>
            </a:pPr>
            <a:r>
              <a:rPr dirty="0"/>
              <a:t>✓  Prod-GHCR-Digest-</a:t>
            </a:r>
            <a:r>
              <a:rPr dirty="0" err="1"/>
              <a:t>Abgleich</a:t>
            </a:r>
            <a:endParaRPr dirty="0"/>
          </a:p>
          <a:p>
            <a:pPr>
              <a:spcBef>
                <a:spcPts val="500"/>
              </a:spcBef>
              <a:defRPr sz="1120">
                <a:solidFill>
                  <a:srgbClr val="232323"/>
                </a:solidFill>
              </a:defRPr>
            </a:pPr>
            <a:r>
              <a:rPr dirty="0" err="1"/>
              <a:t>GitOps</a:t>
            </a:r>
            <a:r>
              <a:rPr dirty="0"/>
              <a:t>-PROD → GHCR → Kubernetes PROD: Image-Digest 1:1 </a:t>
            </a:r>
            <a:r>
              <a:rPr dirty="0" err="1"/>
              <a:t>nachgewiesen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596128"/>
            <a:ext cx="10927080" cy="530352"/>
          </a:xfrm>
          <a:prstGeom prst="roundRect">
            <a:avLst/>
          </a:prstGeom>
          <a:solidFill>
            <a:srgbClr val="F1F9F4"/>
          </a:solidFill>
          <a:ln>
            <a:solidFill>
              <a:srgbClr val="198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20" b="1">
                <a:solidFill>
                  <a:srgbClr val="198746"/>
                </a:solidFill>
              </a:defRPr>
            </a:pPr>
            <a:r>
              <a:t>Aktueller Stand: Restore-Endnachweis, Übergabe-Snapshot und Prod-GHCR-Digest-Abgleich sind abgeschlossen und nachgewiesen.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10528"/>
            <a:ext cx="2795958" cy="22313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>
            <a:lvl1pPr>
              <a:defRPr sz="850" b="0" i="0">
                <a:solidFill>
                  <a:srgbClr val="464646"/>
                </a:solidFill>
              </a:defRPr>
            </a:lvl1pPr>
          </a:lstStyle>
          <a:p>
            <a:r>
              <a:rPr dirty="0"/>
              <a:t>Ibrahim Sangaré | Pacman DevOps-/</a:t>
            </a:r>
            <a:r>
              <a:rPr lang="de-DE" dirty="0"/>
              <a:t>Nachweis</a:t>
            </a:r>
            <a:r>
              <a:rPr dirty="0"/>
              <a:t> | Folie 1</a:t>
            </a:r>
            <a:r>
              <a:rPr lang="de-DE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Fazit und Übergabe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75488" y="6858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B4A7A"/>
                </a:solidFill>
              </a:rPr>
              <a:t>Erreichtes Ergebnis und prüfungsrelevanter Nutzen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6565392"/>
            <a:ext cx="3238387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232323"/>
                </a:solidFill>
              </a:rPr>
              <a:t>Ibrahim Sangaré | Pacman DevOps-/</a:t>
            </a:r>
            <a:r>
              <a:rPr lang="de-DE" sz="850" dirty="0">
                <a:solidFill>
                  <a:srgbClr val="232323"/>
                </a:solidFill>
              </a:rPr>
              <a:t>Fazit und Übergabe</a:t>
            </a:r>
            <a:r>
              <a:rPr sz="850" dirty="0">
                <a:solidFill>
                  <a:srgbClr val="232323"/>
                </a:solidFill>
              </a:rPr>
              <a:t> | Folie 1</a:t>
            </a:r>
            <a:r>
              <a:rPr lang="de-DE" sz="850" dirty="0">
                <a:solidFill>
                  <a:srgbClr val="232323"/>
                </a:solidFill>
              </a:rPr>
              <a:t>3</a:t>
            </a:r>
            <a:endParaRPr sz="850" dirty="0">
              <a:solidFill>
                <a:srgbClr val="23232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4A7A"/>
                </a:solidFill>
              </a:rPr>
              <a:t>Ergebnis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6692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Pacman wurde von lokalem Betrieb zu einer nachvollziehbaren DevOps-/GitOps-Plattform geführt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Build, Test, Release, Deployment und Betrieb sind strukturiert dokumentiert</a:t>
            </a:r>
            <a:endParaRPr lang="en-US" sz="1430" dirty="0"/>
          </a:p>
          <a:p>
            <a:pPr marL="0" indent="0">
              <a:buNone/>
            </a:pP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Risiken wie Secrets, Drift, fehlerhafte Releases und Datenverlust wurden gezielt adressiert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69037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823B"/>
                </a:solidFill>
              </a:rPr>
              <a:t>Nutzen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0" y="1600200"/>
            <a:ext cx="42976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Versionierung und Nachvollziehbarkeit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kontrollierte Promotion nach prod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Rollback über GitOps</a:t>
            </a:r>
            <a:endParaRPr lang="en-US" sz="1430" dirty="0"/>
          </a:p>
          <a:p>
            <a:pPr marL="0" indent="0">
              <a:buNone/>
            </a:pPr>
            <a:r>
              <a:rPr lang="en-US" sz="1430" dirty="0">
                <a:solidFill>
                  <a:srgbClr val="1A1A1A"/>
                </a:solidFill>
              </a:rPr>
              <a:t>• Monitoring und Restore-Prüfung für Betriebssicherheit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1188720" y="4754880"/>
            <a:ext cx="9784080" cy="59436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417320" y="496519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4A7A"/>
                </a:solidFill>
              </a:rPr>
              <a:t>Kernaussage: Git definiert den Sollzustand, Argo CD synchronisiert, Kubernetes betreibt, Monitoring überwacht.</a:t>
            </a:r>
            <a:endParaRPr lang="en-US" sz="12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23160" cy="6858000"/>
          </a:xfrm>
          <a:prstGeom prst="rect">
            <a:avLst/>
          </a:prstGeom>
          <a:solidFill>
            <a:srgbClr val="0B4A7A"/>
          </a:solidFill>
          <a:ln w="12700">
            <a:solidFill>
              <a:srgbClr val="0B4A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46120" y="22402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A7A"/>
                </a:solidFill>
              </a:rPr>
              <a:t>Vielen Dank!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73552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5F9E"/>
                </a:solidFill>
              </a:rPr>
              <a:t>Fragen?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73552" y="3502152"/>
            <a:ext cx="1325880" cy="0"/>
          </a:xfrm>
          <a:prstGeom prst="line">
            <a:avLst/>
          </a:prstGeom>
          <a:noFill/>
          <a:ln w="25400">
            <a:solidFill>
              <a:srgbClr val="0E5F9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291840" y="4160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Pacman DevOps-/GitOps-Abschlussprojekt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CI/CD • GHCR • Kubernetes • Argo CD • Monitoring • Backup/Restore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6565392"/>
            <a:ext cx="351891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dirty="0">
                <a:solidFill>
                  <a:srgbClr val="232323"/>
                </a:solidFill>
              </a:rPr>
              <a:t>Ibrahim Sangaré | Pacman DevOps-/</a:t>
            </a:r>
            <a:r>
              <a:rPr sz="850" dirty="0" err="1">
                <a:solidFill>
                  <a:srgbClr val="232323"/>
                </a:solidFill>
              </a:rPr>
              <a:t>GitOps-Abschlussprojekt</a:t>
            </a:r>
            <a:r>
              <a:rPr sz="850" dirty="0">
                <a:solidFill>
                  <a:srgbClr val="232323"/>
                </a:solidFill>
              </a:rPr>
              <a:t> | Folie 1</a:t>
            </a:r>
            <a:r>
              <a:rPr lang="de-DE" sz="850" dirty="0">
                <a:solidFill>
                  <a:srgbClr val="232323"/>
                </a:solidFill>
              </a:rPr>
              <a:t>4</a:t>
            </a:r>
            <a:endParaRPr sz="850" dirty="0">
              <a:solidFill>
                <a:srgbClr val="23232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2329</Words>
  <Application>Microsoft Office PowerPoint</Application>
  <PresentationFormat>Breitbild</PresentationFormat>
  <Paragraphs>319</Paragraphs>
  <Slides>14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Office Theme</vt:lpstr>
      <vt:lpstr>1_Office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IHK Abschlussprojekt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Pacman – CI/CD und GitOps auf Kubernetes</dc:title>
  <dc:subject>IHK Abschlussprojekt Pacman DevOps GitOps Kubernetes</dc:subject>
  <dc:creator>Ibrahim Sangaré</dc:creator>
  <cp:lastModifiedBy>Ibrahim Sangare</cp:lastModifiedBy>
  <cp:revision>19</cp:revision>
  <dcterms:created xsi:type="dcterms:W3CDTF">2026-09-11T16:15:51Z</dcterms:created>
  <dcterms:modified xsi:type="dcterms:W3CDTF">2026-09-22T07:08:21Z</dcterms:modified>
</cp:coreProperties>
</file>